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 SCHOOL 2026  |  DRAFT FOR TEAM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61320" y="6510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13-16.10.2026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00"/>
                </a:solidFill>
              </a:rPr>
              <a:t>DESIGN THINKING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From a broad challenge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to a testable solution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28803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CE2"/>
                </a:solidFill>
              </a:rPr>
              <a:t>Mass-affluent wealth advice  |  Innovation School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83880" y="960120"/>
            <a:ext cx="3154680" cy="4297680"/>
          </a:xfrm>
          <a:prstGeom prst="roundRect">
            <a:avLst/>
          </a:prstGeom>
          <a:solidFill>
            <a:srgbClr val="2A3544"/>
          </a:solidFill>
          <a:ln w="12700">
            <a:solidFill>
              <a:srgbClr val="3B46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1325880"/>
            <a:ext cx="402336" cy="402336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135331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0" y="1344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Understand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50808" y="1728216"/>
            <a:ext cx="0" cy="329184"/>
          </a:xfrm>
          <a:prstGeom prst="line">
            <a:avLst/>
          </a:prstGeom>
          <a:noFill/>
          <a:ln w="25400">
            <a:solidFill>
              <a:srgbClr val="7D87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9640" y="2057400"/>
            <a:ext cx="402336" cy="402336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208483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0" y="20756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Empathize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50808" y="2459736"/>
            <a:ext cx="0" cy="329184"/>
          </a:xfrm>
          <a:prstGeom prst="line">
            <a:avLst/>
          </a:prstGeom>
          <a:noFill/>
          <a:ln w="25400">
            <a:solidFill>
              <a:srgbClr val="7D87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788920"/>
            <a:ext cx="402336" cy="402336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81635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0" y="2807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Ideate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50808" y="3191256"/>
            <a:ext cx="0" cy="329184"/>
          </a:xfrm>
          <a:prstGeom prst="line">
            <a:avLst/>
          </a:prstGeom>
          <a:noFill/>
          <a:ln w="25400">
            <a:solidFill>
              <a:srgbClr val="7D87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3520440"/>
            <a:ext cx="402336" cy="402336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354787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0" y="3538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Prototype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750808" y="3922776"/>
            <a:ext cx="0" cy="329184"/>
          </a:xfrm>
          <a:prstGeom prst="line">
            <a:avLst/>
          </a:prstGeom>
          <a:noFill/>
          <a:ln w="25400">
            <a:solidFill>
              <a:srgbClr val="7D87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9640" y="4251960"/>
            <a:ext cx="402336" cy="402336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42793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0" y="4270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Business Case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" y="48006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Core principle: agree on the problem before choosing the solution.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3232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0CA"/>
                </a:solidFill>
              </a:rPr>
              <a:t>Draft for team alignment - not a final solution proposal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are we really trying to design?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A service level between generic retail guidance and full private banking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27080" cy="1005840"/>
          </a:xfrm>
          <a:prstGeom prst="roundRect">
            <a:avLst/>
          </a:prstGeom>
          <a:solidFill>
            <a:srgbClr val="FFF6CC"/>
          </a:solidFill>
          <a:ln w="12700">
            <a:solidFill>
              <a:srgbClr val="E1C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73352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How can we give customers with higher income or savings a level of guidance that is more valuable than generic retail guidance, but still cheaper and more scalable than full private banking?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907792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Generic retail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3310128"/>
            <a:ext cx="2980944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Education, product information, self-service tools and broad guidance.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Useful, but may not be enough for more complex goals.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7408" y="27432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9E8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2907792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Our design space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8576" y="3310128"/>
            <a:ext cx="2980944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Affordable guidance, clearer decisions, assisted digital support and human help at the moments that matter.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74320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2907792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Private banking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39328" y="3310128"/>
            <a:ext cx="2980944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High-touch, dedicated advisers and deeper planning.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Valuable, but too costly to provide at scale to everyone.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54864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B5563"/>
                </a:solidFill>
              </a:rPr>
              <a:t>This is a positioning statement - not yet the final customer problem.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sequence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We should not agree on a solution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737360" cy="731520"/>
          </a:xfrm>
          <a:prstGeom prst="roundRect">
            <a:avLst/>
          </a:prstGeom>
          <a:solidFill>
            <a:srgbClr val="DDEAF7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13055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UNDERSTAND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50592" y="2121408"/>
            <a:ext cx="411480" cy="329184"/>
          </a:xfrm>
          <a:prstGeom prst="chevron">
            <a:avLst/>
          </a:prstGeom>
          <a:solidFill>
            <a:srgbClr val="AEB5BC"/>
          </a:solidFill>
          <a:ln w="12700">
            <a:solidFill>
              <a:srgbClr val="AEB5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53512" y="1920240"/>
            <a:ext cx="1737360" cy="73152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26664" y="213055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EMPATHIZE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18304" y="2121408"/>
            <a:ext cx="411480" cy="329184"/>
          </a:xfrm>
          <a:prstGeom prst="chevron">
            <a:avLst/>
          </a:prstGeom>
          <a:solidFill>
            <a:srgbClr val="AEB5BC"/>
          </a:solidFill>
          <a:ln w="12700">
            <a:solidFill>
              <a:srgbClr val="AEB5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21224" y="1920240"/>
            <a:ext cx="1737360" cy="731520"/>
          </a:xfrm>
          <a:prstGeom prst="roundRect">
            <a:avLst/>
          </a:prstGeom>
          <a:solidFill>
            <a:srgbClr val="F7E5D8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94376" y="213055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IDEATE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86016" y="2121408"/>
            <a:ext cx="411480" cy="329184"/>
          </a:xfrm>
          <a:prstGeom prst="chevron">
            <a:avLst/>
          </a:prstGeom>
          <a:solidFill>
            <a:srgbClr val="AEB5BC"/>
          </a:solidFill>
          <a:ln w="12700">
            <a:solidFill>
              <a:srgbClr val="AEB5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88936" y="1920240"/>
            <a:ext cx="1737360" cy="731520"/>
          </a:xfrm>
          <a:prstGeom prst="roundRect">
            <a:avLst/>
          </a:prstGeom>
          <a:solidFill>
            <a:srgbClr val="E9E2F7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2088" y="213055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PROTOTYPE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53728" y="2121408"/>
            <a:ext cx="411480" cy="329184"/>
          </a:xfrm>
          <a:prstGeom prst="chevron">
            <a:avLst/>
          </a:prstGeom>
          <a:solidFill>
            <a:srgbClr val="AEB5BC"/>
          </a:solidFill>
          <a:ln w="12700">
            <a:solidFill>
              <a:srgbClr val="AEB5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56648" y="1920240"/>
            <a:ext cx="1737360" cy="731520"/>
          </a:xfrm>
          <a:prstGeom prst="roundRect">
            <a:avLst/>
          </a:prstGeom>
          <a:solidFill>
            <a:srgbClr val="FFF2C6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2130552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BUSINESS CASE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Agree on the problem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Who? Which market? Which moment? What evidence shows a real difficulty? Why does it matter?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0" cy="1920240"/>
          </a:xfrm>
          <a:prstGeom prst="line">
            <a:avLst/>
          </a:prstGeom>
          <a:noFill/>
          <a:ln w="25400">
            <a:solidFill>
              <a:srgbClr val="D2D7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Then choose a solution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66360" y="3611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Generate several options, compare them, choose one assumption to test, and change direction if the evidence says so.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92440" y="4800600"/>
            <a:ext cx="3200400" cy="77724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E5B3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5029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D3232"/>
                </a:solidFill>
              </a:rPr>
              <a:t>Too early: “Our solution is an AI chatbot.”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Understand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Agree on the scope and the current journey before solving anything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38912" cy="438912"/>
          </a:xfrm>
          <a:prstGeom prst="ellipse">
            <a:avLst/>
          </a:prstGeom>
          <a:solidFill>
            <a:srgbClr val="DDEAF7"/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6245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62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Understand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Questions to answer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532888"/>
            <a:ext cx="3072384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Which market are we studying?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Which mass-affluent subgroup?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What service do they receive today?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Where in the journey could friction exist?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What is fact vs assumption?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What we bring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62856" y="2532888"/>
            <a:ext cx="3072384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Official challenge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Veljko expert interview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Public bank/service examples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Existing investment journey knowledge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Data or expert evidence we can access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37576" y="196596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DDEAF7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Output / decision gate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38744" y="2532888"/>
            <a:ext cx="3072384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 provisional customer + market + journey map + top unanswered questions.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Only then do we move deeper into customer evidence.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5532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3232"/>
                </a:solidFill>
              </a:rPr>
              <a:t>Do not choose the app, AI, chatbot or platform here.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Empathize &amp; Synthesize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Turn assumptions into evidence and one focused problem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38912" cy="438912"/>
          </a:xfrm>
          <a:prstGeom prst="ellipse">
            <a:avLst/>
          </a:prstGeom>
          <a:solidFill>
            <a:srgbClr val="DDEFE5"/>
          </a:solidFill>
          <a:ln w="12700">
            <a:solidFill>
              <a:srgbClr val="DDEF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6245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62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Empathize &amp; Synthesize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Listen to real experiences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532888"/>
            <a:ext cx="3072384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Customer: “Tell me about the last time you had savings and needed to decide what to do.”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Banker: “Where does a real customer usually get stuck, and what takes most time?”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Look for patterns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62856" y="2532888"/>
            <a:ext cx="3072384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Cluster needs, frustrations, workarounds and contradictions. Separate observed evidence from our interpretation.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37576" y="196596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DDEFE5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Output / decision gate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38744" y="2532888"/>
            <a:ext cx="3072384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One focused problem statement + 2-3 evidence-backed insights + a “How might we...?” question.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55321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This is the point where we should be able to explain WHY the problem is worth solving.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Ideate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Now - and only now - do we decide what kind of solution to explore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38912" cy="438912"/>
          </a:xfrm>
          <a:prstGeom prst="ellipse">
            <a:avLst/>
          </a:prstGeom>
          <a:solidFill>
            <a:srgbClr val="F7E5D8"/>
          </a:solidFill>
          <a:ln w="12700">
            <a:solidFill>
              <a:srgbClr val="F7E5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6245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62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Ideate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3055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Clearer explanation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532888"/>
            <a:ext cx="29352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One-page recommendation rationale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196596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3055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Human handover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532888"/>
            <a:ext cx="29352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Carry context into banker support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55864" y="196596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213055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Wealth health check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57032" y="2532888"/>
            <a:ext cx="29352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Help prioritize the next financial 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82219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Guided journey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6968" y="4224528"/>
            <a:ext cx="29352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Reduce drop-off from intent to completion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70832" y="36576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82219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Education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2000" y="4224528"/>
            <a:ext cx="29352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Short lessons before decision points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55864" y="3657600"/>
            <a:ext cx="3337560" cy="1325880"/>
          </a:xfrm>
          <a:prstGeom prst="roundRect">
            <a:avLst>
              <a:gd name="adj" fmla="val 5517"/>
            </a:avLst>
          </a:prstGeom>
          <a:solidFill>
            <a:srgbClr val="FFF2F2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57032" y="382219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AI assistant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57032" y="4224528"/>
            <a:ext cx="29352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Only if evidence shows it solves a real gap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565099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5563"/>
                </a:solidFill>
              </a:rPr>
              <a:t>Choose based on customer relevance, evidence, feasibility, operating cost and advisory responsibilities.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Prototype &amp;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Test the riskiest assumption with the smallest useful prototype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38912" cy="438912"/>
          </a:xfrm>
          <a:prstGeom prst="ellipse">
            <a:avLst/>
          </a:prstGeom>
          <a:solidFill>
            <a:srgbClr val="E9E2F7"/>
          </a:solidFill>
          <a:ln w="12700">
            <a:solidFill>
              <a:srgbClr val="E9E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6245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62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Prototype &amp; Test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747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Prototype examples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532888"/>
            <a:ext cx="3072384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Paper screens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One-page explanation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Banker handover summary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Role-play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• Goal-review dashboard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No full platform needed.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747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What to observe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62856" y="2532888"/>
            <a:ext cx="3072384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Can the customer complete the task?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What do they misunderstand?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Where do they still need help?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What changes after feedback?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37576" y="1965960"/>
            <a:ext cx="3474720" cy="3154680"/>
          </a:xfrm>
          <a:prstGeom prst="roundRect">
            <a:avLst>
              <a:gd name="adj" fmla="val 2319"/>
            </a:avLst>
          </a:prstGeom>
          <a:solidFill>
            <a:srgbClr val="E9E2F7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Output / decision gate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38744" y="2532888"/>
            <a:ext cx="3072384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Evidence that the idea helps - or evidence that we should change it.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 failed assumption is useful learning.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504688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Testing is not “Do you like our idea?” - it is watching whether the idea actually helps.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Business Case &amp; Pitch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Explain customer value, delivery reality and the next pilot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38912" cy="438912"/>
          </a:xfrm>
          <a:prstGeom prst="ellipse">
            <a:avLst/>
          </a:prstGeom>
          <a:solidFill>
            <a:srgbClr val="FFF2C6"/>
          </a:solidFill>
          <a:ln w="12700">
            <a:solidFill>
              <a:srgbClr val="FFF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6245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62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Business Case &amp; Pitch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Customer value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532888"/>
            <a:ext cx="307238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Does the customer understand the choice?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Reach a useful next action?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Get help without repeating everything?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Know when to review?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Bank / operating value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62856" y="2532888"/>
            <a:ext cx="307238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Adviser time saved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Fewer repeated contacts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Higher completion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Better use of existing capabilities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Potential relationship value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37576" y="196596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9E8"/>
          </a:solidFill>
          <a:ln w="12700">
            <a:solidFill>
              <a:srgbClr val="D6DA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21305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Pitch / next step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38744" y="2532888"/>
            <a:ext cx="307238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Problem → evidence → concept → test learning → cost/benefit → uncertainties → small pilot ask.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65960" y="5486400"/>
            <a:ext cx="8229600" cy="56692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56509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Our job is not to defend the first idea. Our job is to learn our way to a credible solution.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we agree as a team first?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A practical discussion checklist for Budapest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502920" cy="502920"/>
          </a:xfrm>
          <a:prstGeom prst="ellipse">
            <a:avLst/>
          </a:prstGeom>
          <a:solidFill>
            <a:srgbClr val="DDEAF7"/>
          </a:solidFill>
          <a:ln w="12700">
            <a:solidFill>
              <a:srgbClr val="B7C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435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Market + customer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77640" y="14356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Who exactly are we trying to help?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65860" y="1920240"/>
            <a:ext cx="0" cy="347472"/>
          </a:xfrm>
          <a:prstGeom prst="line">
            <a:avLst/>
          </a:prstGeom>
          <a:noFill/>
          <a:ln w="25400">
            <a:solidFill>
              <a:srgbClr val="C7CC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67712"/>
            <a:ext cx="502920" cy="502920"/>
          </a:xfrm>
          <a:prstGeom prst="ellipse">
            <a:avLst/>
          </a:prstGeom>
          <a:solidFill>
            <a:srgbClr val="DDEAF7"/>
          </a:solidFill>
          <a:ln w="12700">
            <a:solidFill>
              <a:srgbClr val="B7C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13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Journey moment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2286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Where does the experience break down?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65860" y="2770632"/>
            <a:ext cx="0" cy="347472"/>
          </a:xfrm>
          <a:prstGeom prst="line">
            <a:avLst/>
          </a:prstGeom>
          <a:noFill/>
          <a:ln w="25400">
            <a:solidFill>
              <a:srgbClr val="C7CC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118104"/>
            <a:ext cx="502920" cy="502920"/>
          </a:xfrm>
          <a:prstGeom prst="ellipse">
            <a:avLst/>
          </a:prstGeom>
          <a:solidFill>
            <a:srgbClr val="DDEAF7"/>
          </a:solidFill>
          <a:ln w="12700">
            <a:solidFill>
              <a:srgbClr val="B7C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1638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1363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Evidence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77640" y="31363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What have we actually observed or heard?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65860" y="3621024"/>
            <a:ext cx="0" cy="347472"/>
          </a:xfrm>
          <a:prstGeom prst="line">
            <a:avLst/>
          </a:prstGeom>
          <a:noFill/>
          <a:ln w="25400">
            <a:solidFill>
              <a:srgbClr val="C7CC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968496"/>
            <a:ext cx="502920" cy="502920"/>
          </a:xfrm>
          <a:prstGeom prst="ellipse">
            <a:avLst/>
          </a:prstGeom>
          <a:solidFill>
            <a:srgbClr val="DDEAF7"/>
          </a:solidFill>
          <a:ln w="12700">
            <a:solidFill>
              <a:srgbClr val="B7C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142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3986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Problem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77640" y="398678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Why is this worth solving?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65860" y="4471416"/>
            <a:ext cx="0" cy="347472"/>
          </a:xfrm>
          <a:prstGeom prst="line">
            <a:avLst/>
          </a:prstGeom>
          <a:noFill/>
          <a:ln w="25400">
            <a:solidFill>
              <a:srgbClr val="C7CC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818888"/>
            <a:ext cx="502920" cy="50292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864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48371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Only then: solution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77640" y="483717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Which idea is the best one to test first?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5806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Recommendation for the meeting: use the first deck to align on the challenge, then use this roadmap to agree how the team will work through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0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RBI Innovation School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 Roadmap - Mass-Affluent Wealth Advice</dc:title>
  <dc:subject>Innovation School 2026 - Design Thinking roadmap</dc:subject>
  <dc:creator>Arianit Lubishtani</dc:creator>
  <cp:lastModifiedBy>Arianit Lubishtani</cp:lastModifiedBy>
  <cp:revision>1</cp:revision>
  <dcterms:created xsi:type="dcterms:W3CDTF">2026-10-10T22:22:03Z</dcterms:created>
  <dcterms:modified xsi:type="dcterms:W3CDTF">2026-10-10T22:22:03Z</dcterms:modified>
</cp:coreProperties>
</file>