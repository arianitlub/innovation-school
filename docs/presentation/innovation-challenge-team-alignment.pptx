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A66"/>
                </a:solidFill>
              </a:rPr>
              <a:t>RBI Innovation School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9536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A66"/>
                </a:solidFill>
              </a:rPr>
              <a:t>Mass-Affluent Wealth Advice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FD400"/>
                </a:solidFill>
              </a:rPr>
              <a:t>INNOVATION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Mass-Affluent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Wealth Advice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76656" y="29077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E8E4"/>
                </a:solidFill>
              </a:rPr>
              <a:t>Team alignment before we start Design Thinking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60920" y="1097280"/>
            <a:ext cx="3931920" cy="4023360"/>
          </a:xfrm>
          <a:prstGeom prst="roundRect">
            <a:avLst>
              <a:gd name="adj" fmla="val 1395"/>
            </a:avLst>
          </a:prstGeom>
          <a:solidFill>
            <a:srgbClr val="343432"/>
          </a:solidFill>
          <a:ln w="12700">
            <a:solidFill>
              <a:srgbClr val="4646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508760"/>
            <a:ext cx="502920" cy="502920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00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01E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5820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Understand the challenge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2350008"/>
            <a:ext cx="502920" cy="502920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2441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01E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820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Separate facts from assumptions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0" y="3191256"/>
            <a:ext cx="502920" cy="502920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3282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01E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8200" y="32369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Choose a customer and pain point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4032504"/>
            <a:ext cx="502920" cy="502920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41239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01E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40782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Only then explore solutions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5989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8"/>
                </a:solidFill>
              </a:rPr>
              <a:t>Prepared for team discussion - 13.10.2026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00"/>
                </a:solidFill>
              </a:rPr>
              <a:t>01 - CHALLENGE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201E"/>
                </a:solidFill>
              </a:rPr>
              <a:t>What are we trying to solve?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1"/>
                </a:solidFill>
              </a:rPr>
              <a:t>Start with the official question, then use a simpler working formulation to guide discussion.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109728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29968"/>
            <a:ext cx="1572768" cy="292608"/>
          </a:xfrm>
          <a:prstGeom prst="roundRect">
            <a:avLst>
              <a:gd name="adj" fmla="val 43750"/>
            </a:avLst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07568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1E"/>
                </a:solidFill>
              </a:rPr>
              <a:t>OFFICIAL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10378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01E"/>
                </a:solidFill>
              </a:rPr>
              <a:t>"How are mass affluent clients served with wealth management advice and where are the gaps? How can we find more ways to offer more value to customers during the process?"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566160"/>
            <a:ext cx="10972800" cy="1417320"/>
          </a:xfrm>
          <a:prstGeom prst="roundRect">
            <a:avLst>
              <a:gd name="adj" fmla="val 3871"/>
            </a:avLst>
          </a:prstGeom>
          <a:solidFill>
            <a:srgbClr val="FFF7CC"/>
          </a:solidFill>
          <a:ln w="12700">
            <a:solidFill>
              <a:srgbClr val="E8D6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767328"/>
            <a:ext cx="1325880" cy="292608"/>
          </a:xfrm>
          <a:prstGeom prst="roundRect">
            <a:avLst>
              <a:gd name="adj" fmla="val 43750"/>
            </a:avLst>
          </a:prstGeom>
          <a:solidFill>
            <a:srgbClr val="FFF0A6"/>
          </a:solidFill>
          <a:ln w="12700">
            <a:solidFill>
              <a:srgbClr val="FFF0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813048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1E"/>
                </a:solidFill>
              </a:rPr>
              <a:t>WORKING GOAL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4187952"/>
            <a:ext cx="10332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01E"/>
                </a:solidFill>
              </a:rPr>
              <a:t>How can we give mass-affluent customers useful, affordable financial guidance that helps them achieve their goals and strengthens their relationship with the bank?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743200" y="52303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1"/>
                </a:solidFill>
              </a:rPr>
              <a:t>Preparation framing - not yet a team-approved scope or solution.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" y="614476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77771"/>
                </a:solidFill>
              </a:rPr>
              <a:t>Sources: docs/challenges/00-overview.md; docs/my-research/01-start-here-challenge-basics-and-school-preparation.md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00"/>
                </a:solidFill>
              </a:rPr>
              <a:t>02 - CUSTOMER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201E"/>
                </a:solidFill>
              </a:rPr>
              <a:t>Who are we talking about?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1"/>
                </a:solidFill>
              </a:rPr>
              <a:t>The labels overlap. Choose a real market and customer group instead of importing one global threshold.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29184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193548000" dist="96774000" dir="162000000000">
              <a:srgbClr val="000000">
                <a:alpha val="12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28800"/>
            <a:ext cx="50292" cy="315468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1168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Mass affluent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450592"/>
            <a:ext cx="2889504" cy="2350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A customer group with meaningful savings, income or investment potential - below the most intensive private-banking relationship. The exact definition varies by market.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443984" y="1828800"/>
            <a:ext cx="329184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2458059600000" dist="12290298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3984" y="1828800"/>
            <a:ext cx="50292" cy="3154680"/>
          </a:xfrm>
          <a:prstGeom prst="rect">
            <a:avLst/>
          </a:prstGeom>
          <a:solidFill>
            <a:srgbClr val="A7C8E8"/>
          </a:solidFill>
          <a:ln w="12700">
            <a:solidFill>
              <a:srgbClr val="A7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01168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Premium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450592"/>
            <a:ext cx="2889504" cy="2350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A service proposition or tier. It may add a named banker, planning, video/phone access, preferential pricing or other benefits. A mass-affluent customer may already be Premium.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202168" y="1828800"/>
            <a:ext cx="3291840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31217356920000000" dist="1560867846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02168" y="1828800"/>
            <a:ext cx="50292" cy="3154680"/>
          </a:xfrm>
          <a:prstGeom prst="rect">
            <a:avLst/>
          </a:prstGeom>
          <a:solidFill>
            <a:srgbClr val="B6DDBB"/>
          </a:solidFill>
          <a:ln w="12700">
            <a:solidFill>
              <a:srgbClr val="B6D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201168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Private banking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03336" y="2450592"/>
            <a:ext cx="2889504" cy="2350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A more intensive proposition for wealthier or more complex relationships, with dedicated advisers and specialist access.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2971800" y="5266944"/>
            <a:ext cx="6263640" cy="493776"/>
          </a:xfrm>
          <a:prstGeom prst="roundRect">
            <a:avLst>
              <a:gd name="adj" fmla="val 9259"/>
            </a:avLst>
          </a:prstGeom>
          <a:solidFill>
            <a:srgbClr val="292927"/>
          </a:solidFill>
          <a:ln w="12700">
            <a:solidFill>
              <a:srgbClr val="2929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5394960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Mass affluent = customer description | Premium = service proposition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" y="614476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77771"/>
                </a:solidFill>
              </a:rPr>
              <a:t>Source: preparation research and public examples summarized in docs/my-research/02-mass-affluent-customers-bank-services-and-retention.md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00"/>
                </a:solidFill>
              </a:rPr>
              <a:t>03 -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201E"/>
                </a:solidFill>
              </a:rPr>
              <a:t>What do we know - and what is still a hypothesis?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1"/>
                </a:solidFill>
              </a:rPr>
              <a:t>Research is useful, but it is not the same as validated customer evidence.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2560320" cy="333756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  <a:effectLst>
            <a:outerShdw sx="100000" sy="100000" kx="0" ky="0" algn="bl" rotWithShape="0" blurRad="396460432884000000000" dist="198230216442000000000" dir="3.4992e+25">
              <a:srgbClr val="000000">
                <a:alpha val="1.2e+2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29968"/>
            <a:ext cx="2194560" cy="292608"/>
          </a:xfrm>
          <a:prstGeom prst="roundRect">
            <a:avLst>
              <a:gd name="adj" fmla="val 43750"/>
            </a:avLst>
          </a:prstGeom>
          <a:solidFill>
            <a:srgbClr val="DAF2DD"/>
          </a:solidFill>
          <a:ln w="12700">
            <a:solidFill>
              <a:srgbClr val="DAF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7568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1E"/>
                </a:solidFill>
              </a:rPr>
              <a:t>DOCUMENTED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" y="257860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Public services exist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3200400"/>
            <a:ext cx="21579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C4C48"/>
                </a:solidFill>
              </a:rPr>
              <a:t>Premium planning, banker access and automated advice already exist in some markets. We should not assume "there is no advice."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3401568" y="1828800"/>
            <a:ext cx="2560320" cy="333756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  <a:effectLst>
            <a:outerShdw sx="100000" sy="100000" kx="0" ky="0" algn="bl" rotWithShape="0" blurRad="5.0350474976268e+24" dist="2.5175237488134e+24" dir="2.09952e+30">
              <a:srgbClr val="000000">
                <a:alpha val="1.2e+2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4448" y="2029968"/>
            <a:ext cx="2194560" cy="292608"/>
          </a:xfrm>
          <a:prstGeom prst="roundRect">
            <a:avLst>
              <a:gd name="adj" fmla="val 43750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207568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1E"/>
                </a:solidFill>
              </a:rPr>
              <a:t>REPORTED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02736" y="257860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Expert observations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2736" y="3200400"/>
            <a:ext cx="21579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C4C48"/>
                </a:solidFill>
              </a:rPr>
              <a:t>Branch capacity, paperwork, confusing tools, education needs, simpler workflows and assisted digital support recur in the internal interview.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144768" y="1828800"/>
            <a:ext cx="2560320" cy="333756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  <a:effectLst>
            <a:outerShdw sx="100000" sy="100000" kx="0" ky="0" algn="bl" rotWithShape="0" blurRad="6.3945103219860365e+28" dist="3.1972551609930183e+28" dir="1.259712e+35">
              <a:srgbClr val="000000">
                <a:alpha val="1.2e+3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2029968"/>
            <a:ext cx="2194560" cy="292608"/>
          </a:xfrm>
          <a:prstGeom prst="roundRect">
            <a:avLst>
              <a:gd name="adj" fmla="val 43750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07568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1E"/>
                </a:solidFill>
              </a:rPr>
              <a:t>HYPOTHESIS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45936" y="257860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Possible customer pain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3200400"/>
            <a:ext cx="21579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C4C48"/>
                </a:solidFill>
              </a:rPr>
              <a:t>Customers may struggle to understand a proposal, get help at the right moment, complete the action or know what to do afterwards.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8887968" y="1828800"/>
            <a:ext cx="2560320" cy="333756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  <a:effectLst>
            <a:outerShdw sx="100000" sy="100000" kx="0" ky="0" algn="bl" rotWithShape="0" blurRad="8.121028108922266e+32" dist="4.060514054461133e+32" dir="7.558272e+39">
              <a:srgbClr val="000000">
                <a:alpha val="1.1999999999999999e+3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70848" y="2029968"/>
            <a:ext cx="2194560" cy="292608"/>
          </a:xfrm>
          <a:prstGeom prst="roundRect">
            <a:avLst>
              <a:gd name="adj" fmla="val 43750"/>
            </a:avLst>
          </a:prstGeom>
          <a:solidFill>
            <a:srgbClr val="F8D7DA"/>
          </a:solidFill>
          <a:ln w="12700">
            <a:solidFill>
              <a:srgbClr val="F8D7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07424" y="2075688"/>
            <a:ext cx="2121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1E"/>
                </a:solidFill>
              </a:rPr>
              <a:t>NOT DECIDED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89136" y="257860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Solution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89136" y="3200400"/>
            <a:ext cx="21579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4C4C48"/>
                </a:solidFill>
              </a:rPr>
              <a:t>No chatbot, platform, app or operating model has been selected. Ideas are inputs for testing, not team decisions.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1280160" y="5458968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01E"/>
                </a:solidFill>
              </a:rPr>
              <a:t>Best next move: validate the pain with a specific market, recent customer experiences and the real current journey.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" y="614476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77771"/>
                </a:solidFill>
              </a:rPr>
              <a:t>Sources: expert transcript; public service examples; evidence caveats in docs/working-context.md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00"/>
                </a:solidFill>
              </a:rPr>
              <a:t>04 -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201E"/>
                </a:solidFill>
              </a:rPr>
              <a:t>A customer journey to investigate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1"/>
                </a:solidFill>
              </a:rPr>
              <a:t>This is an investigation map - not a claim that every bank or customer follows the same process.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1664208" cy="215798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2276856"/>
            <a:ext cx="594360" cy="594360"/>
          </a:xfrm>
          <a:prstGeom prst="ellipse">
            <a:avLst/>
          </a:prstGeom>
          <a:solidFill>
            <a:srgbClr val="292927"/>
          </a:solidFill>
          <a:ln w="12700">
            <a:solidFill>
              <a:srgbClr val="2929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24048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29900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01E"/>
                </a:solidFill>
              </a:rPr>
              <a:t>Recognise 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66661"/>
                </a:solidFill>
              </a:rPr>
              <a:t>What should I do with my money?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2258568" y="3136392"/>
            <a:ext cx="210312" cy="0"/>
          </a:xfrm>
          <a:prstGeom prst="line">
            <a:avLst/>
          </a:prstGeom>
          <a:noFill/>
          <a:ln w="19050">
            <a:solidFill>
              <a:srgbClr val="A7A7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68880" y="2057400"/>
            <a:ext cx="1664208" cy="215798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2276856"/>
            <a:ext cx="594360" cy="594360"/>
          </a:xfrm>
          <a:prstGeom prst="ellipse">
            <a:avLst/>
          </a:prstGeom>
          <a:solidFill>
            <a:srgbClr val="292927"/>
          </a:solidFill>
          <a:ln w="12700">
            <a:solidFill>
              <a:srgbClr val="2929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24048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96896" y="29900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01E"/>
                </a:solidFill>
              </a:rPr>
              <a:t>Find help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15184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66661"/>
                </a:solidFill>
              </a:rPr>
              <a:t>Where do I start?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4160520" y="3136392"/>
            <a:ext cx="210312" cy="0"/>
          </a:xfrm>
          <a:prstGeom prst="line">
            <a:avLst/>
          </a:prstGeom>
          <a:noFill/>
          <a:ln w="19050">
            <a:solidFill>
              <a:srgbClr val="A7A7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70832" y="2057400"/>
            <a:ext cx="1664208" cy="215798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2276856"/>
            <a:ext cx="594360" cy="594360"/>
          </a:xfrm>
          <a:prstGeom prst="ellipse">
            <a:avLst/>
          </a:prstGeom>
          <a:solidFill>
            <a:srgbClr val="292927"/>
          </a:solidFill>
          <a:ln w="12700">
            <a:solidFill>
              <a:srgbClr val="2929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4048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8848" y="29900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01E"/>
                </a:solidFill>
              </a:rPr>
              <a:t>Describe goals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17136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66661"/>
                </a:solidFill>
              </a:rPr>
              <a:t>What do I need, when, and why?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062472" y="3136392"/>
            <a:ext cx="210312" cy="0"/>
          </a:xfrm>
          <a:prstGeom prst="line">
            <a:avLst/>
          </a:prstGeom>
          <a:noFill/>
          <a:ln w="19050">
            <a:solidFill>
              <a:srgbClr val="A7A7A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72784" y="2057400"/>
            <a:ext cx="1664208" cy="2157984"/>
          </a:xfrm>
          <a:prstGeom prst="roundRect">
            <a:avLst>
              <a:gd name="adj" fmla="val 2747"/>
            </a:avLst>
          </a:prstGeom>
          <a:solidFill>
            <a:srgbClr val="FFF7CC"/>
          </a:solidFill>
          <a:ln w="19050">
            <a:solidFill>
              <a:srgbClr val="E2C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3992" y="2276856"/>
            <a:ext cx="594360" cy="594360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24048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01E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29900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01E"/>
                </a:solidFill>
              </a:rPr>
              <a:t>Understand proposal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19088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66661"/>
                </a:solidFill>
              </a:rPr>
              <a:t>Does this fit me?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7964424" y="3136392"/>
            <a:ext cx="210312" cy="0"/>
          </a:xfrm>
          <a:prstGeom prst="line">
            <a:avLst/>
          </a:prstGeom>
          <a:noFill/>
          <a:ln w="19050">
            <a:solidFill>
              <a:srgbClr val="A7A7A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74736" y="2057400"/>
            <a:ext cx="1664208" cy="215798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95944" y="2276856"/>
            <a:ext cx="594360" cy="594360"/>
          </a:xfrm>
          <a:prstGeom prst="ellipse">
            <a:avLst/>
          </a:prstGeom>
          <a:solidFill>
            <a:srgbClr val="292927"/>
          </a:solidFill>
          <a:ln w="12700">
            <a:solidFill>
              <a:srgbClr val="2929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95944" y="24048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02752" y="29900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01E"/>
                </a:solidFill>
              </a:rPr>
              <a:t>Complete action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1040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66661"/>
                </a:solidFill>
              </a:rPr>
              <a:t>Can I sign/fund it easily?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9866376" y="3136392"/>
            <a:ext cx="210312" cy="0"/>
          </a:xfrm>
          <a:prstGeom prst="line">
            <a:avLst/>
          </a:prstGeom>
          <a:noFill/>
          <a:ln w="19050">
            <a:solidFill>
              <a:srgbClr val="A7A7A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76688" y="2057400"/>
            <a:ext cx="1664208" cy="2157984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97896" y="2276856"/>
            <a:ext cx="594360" cy="594360"/>
          </a:xfrm>
          <a:prstGeom prst="ellipse">
            <a:avLst/>
          </a:prstGeom>
          <a:solidFill>
            <a:srgbClr val="292927"/>
          </a:solidFill>
          <a:ln w="12700">
            <a:solidFill>
              <a:srgbClr val="2929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97896" y="240487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204704" y="299008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01E"/>
                </a:solidFill>
              </a:rPr>
              <a:t>Review progress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22992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66661"/>
                </a:solidFill>
              </a:rPr>
              <a:t>Am I still on track?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1828800" y="4800600"/>
            <a:ext cx="8503920" cy="621792"/>
          </a:xfrm>
          <a:prstGeom prst="roundRect">
            <a:avLst>
              <a:gd name="adj" fmla="val 7353"/>
            </a:avLst>
          </a:prstGeom>
          <a:solidFill>
            <a:srgbClr val="EFEFEB"/>
          </a:solidFill>
          <a:ln w="12700">
            <a:solidFill>
              <a:srgbClr val="DED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57400" y="4974336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0201E"/>
                </a:solidFill>
              </a:rPr>
              <a:t>Question: where does the customer become uncertain, stop, repeat information, or seek help elsewhere?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585216" y="614476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77771"/>
                </a:solidFill>
              </a:rPr>
              <a:t>Source: docs/my-research/03-solving-our-challenge-with-design-thinking.md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00"/>
                </a:solidFill>
              </a:rPr>
              <a:t>05 - INSPIRATION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201E"/>
                </a:solidFill>
              </a:rPr>
              <a:t>What are others already doing?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1"/>
                </a:solidFill>
              </a:rPr>
              <a:t>Examples show possible operating models - they do not prove what our target customer needs.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51760" cy="34747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1.0313705698331278e+37" dist="5.156852849165639e+36" dir="4.5349632000000006e+44">
              <a:srgbClr val="000000">
                <a:alpha val="1.1999999999999999e+4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50292" cy="3474720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6596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Raiffeisen Serbia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404872"/>
            <a:ext cx="2249424" cy="2670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Premium publicly includes personal banker access, video contact and planning across saving/investing, financing, protection and retirement.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Lesson: existing human and planning capabilities may already cover part of the need.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51760" cy="34747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1.3098406236880722e+41" dist="6.549203118440361e+40" dir="2.72097792e+49">
              <a:srgbClr val="000000">
                <a:alpha val="1.2e+4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783080"/>
            <a:ext cx="50292" cy="3474720"/>
          </a:xfrm>
          <a:prstGeom prst="rect">
            <a:avLst/>
          </a:prstGeom>
          <a:solidFill>
            <a:srgbClr val="A7C8E8"/>
          </a:solidFill>
          <a:ln w="12700">
            <a:solidFill>
              <a:srgbClr val="A7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96596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Tatra banka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0168" y="2404872"/>
            <a:ext cx="2249424" cy="2670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Premium customers can have different care models, including a shared team or named banker.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Lesson: human support can be organised by need and service model - not only one dedicated adviser per customer.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2651760" cy="34747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1.6634975920838518e+45" dist="8.317487960419259e+44" dir="1.6325867520000003e+54">
              <a:srgbClr val="000000">
                <a:alpha val="1.2e+5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783080"/>
            <a:ext cx="50292" cy="3474720"/>
          </a:xfrm>
          <a:prstGeom prst="rect">
            <a:avLst/>
          </a:prstGeom>
          <a:solidFill>
            <a:srgbClr val="B6DDBB"/>
          </a:solidFill>
          <a:ln w="12700">
            <a:solidFill>
              <a:srgbClr val="B6D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96596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Raiffeisen Czech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9088" y="2404872"/>
            <a:ext cx="2249424" cy="2670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Public disclosure describes automated advice with employee involvement on request, with a defined one-off scope.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Lesson: automated advice exists; the opportunity may be continuity, explanation or follow-up.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9006840" y="1783080"/>
            <a:ext cx="2651760" cy="34747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2.1126419419464918e+49" dist="1.0563209709732459e+49" dir="9.795520512000002e+58">
              <a:srgbClr val="000000">
                <a:alpha val="1.2e+5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06840" y="1783080"/>
            <a:ext cx="50292" cy="3474720"/>
          </a:xfrm>
          <a:prstGeom prst="rect">
            <a:avLst/>
          </a:prstGeom>
          <a:solidFill>
            <a:srgbClr val="F3C6A7"/>
          </a:solidFill>
          <a:ln w="12700">
            <a:solidFill>
              <a:srgbClr val="F3C6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196596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Digital providers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08008" y="2404872"/>
            <a:ext cx="2249424" cy="2670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Finax / ING / Moneyfarm show digital onboarding, portfolio journeys and tiered human support.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Lesson: the full journey matters - from intention through funding and monitoring.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1143000" y="5532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01E"/>
                </a:solidFill>
              </a:rPr>
              <a:t>What part of the current RBI journey needs improvement - rather than what new platform should we build?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5216" y="614476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77771"/>
                </a:solidFill>
              </a:rPr>
              <a:t>Sources: public examples listed in docs/my-research/05-sources-and-further-reading.md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00"/>
                </a:solidFill>
              </a:rPr>
              <a:t>06 - IDEAS, NOT ANSWERS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201E"/>
                </a:solidFill>
              </a:rPr>
              <a:t>Possible directions - only after we validate the pain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1"/>
                </a:solidFill>
              </a:rPr>
              <a:t>Carry hypotheses into the workshop, but let customer evidence determine what deserves a prototype.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3456432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2.6830552662720448e+53" dist="1.3415276331360224e+53" dir="5.877312307200001e+63">
              <a:srgbClr val="000000">
                <a:alpha val="1.2000000000000001e+6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755648"/>
            <a:ext cx="50292" cy="1664208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3852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Explain better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377440"/>
            <a:ext cx="3054096" cy="8595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One-page explanation linking a recommendation to goal, cost, risk and alternatives.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462272" y="1755648"/>
            <a:ext cx="3456432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3.407480188165497e+57" dist="1.7037400940827486e+57" dir="3.526387384320001e+68">
              <a:srgbClr val="000000">
                <a:alpha val="1.2e+6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755648"/>
            <a:ext cx="50292" cy="1664208"/>
          </a:xfrm>
          <a:prstGeom prst="rect">
            <a:avLst/>
          </a:prstGeom>
          <a:solidFill>
            <a:srgbClr val="CFCFC9"/>
          </a:solidFill>
          <a:ln w="12700">
            <a:solidFill>
              <a:srgbClr val="CFCF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3852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Human help with context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054096" cy="8595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Easy escalation to a person without making the customer repeat everything.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266176" y="1755648"/>
            <a:ext cx="3456432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4.327499838970181e+61" dist="2.1637499194850906e+61" dir="2.1158324305920003e+73">
              <a:srgbClr val="000000">
                <a:alpha val="1.2e+7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66176" y="1755648"/>
            <a:ext cx="50292" cy="1664208"/>
          </a:xfrm>
          <a:prstGeom prst="rect">
            <a:avLst/>
          </a:prstGeom>
          <a:solidFill>
            <a:srgbClr val="CFCFC9"/>
          </a:solidFill>
          <a:ln w="12700">
            <a:solidFill>
              <a:srgbClr val="CFCF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193852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Wealth health check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67344" y="2377440"/>
            <a:ext cx="3054096" cy="8595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A short conversation that identifies the next useful financial action - even if no product is sold.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58368" y="3749040"/>
            <a:ext cx="3456432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5.49592479549213e+65" dist="2.747962397746065e+65" dir="1.2694994583552002e+78">
              <a:srgbClr val="000000">
                <a:alpha val="1.2000000000000001e+7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749040"/>
            <a:ext cx="50292" cy="1664208"/>
          </a:xfrm>
          <a:prstGeom prst="rect">
            <a:avLst/>
          </a:prstGeom>
          <a:solidFill>
            <a:srgbClr val="CFCFC9"/>
          </a:solidFill>
          <a:ln w="12700">
            <a:solidFill>
              <a:srgbClr val="CFCF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319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Goal review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" y="4370832"/>
            <a:ext cx="3054096" cy="8595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Help the customer understand whether they are still on track after the initial decision.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4462272" y="3749040"/>
            <a:ext cx="3456432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6.979824490275004e+69" dist="3.489912245137502e+69" dir="7.616996750131201e+82">
              <a:srgbClr val="000000">
                <a:alpha val="1.2000000000000002e+84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62272" y="3749040"/>
            <a:ext cx="50292" cy="1664208"/>
          </a:xfrm>
          <a:prstGeom prst="rect">
            <a:avLst/>
          </a:prstGeom>
          <a:solidFill>
            <a:srgbClr val="CFCFC9"/>
          </a:solidFill>
          <a:ln w="12700">
            <a:solidFill>
              <a:srgbClr val="CFCF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9319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Guided first-investment journey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3440" y="4370832"/>
            <a:ext cx="3054096" cy="8595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Reduce confusion between interest, profiling, recommendation, signing and funding.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8266176" y="3749040"/>
            <a:ext cx="3456432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8.864377102649255e+73" dist="4.4321885513246276e+73" dir="4.57019805007872e+87">
              <a:srgbClr val="000000">
                <a:alpha val="1.2000000000000002e+8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66176" y="3749040"/>
            <a:ext cx="50292" cy="1664208"/>
          </a:xfrm>
          <a:prstGeom prst="rect">
            <a:avLst/>
          </a:prstGeom>
          <a:solidFill>
            <a:srgbClr val="CFCFC9"/>
          </a:solidFill>
          <a:ln w="12700">
            <a:solidFill>
              <a:srgbClr val="CFCF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39319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Education first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67344" y="4370832"/>
            <a:ext cx="3054096" cy="8595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Short approved content that improves understanding before a recommendation or conversation.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2194560" y="5577840"/>
            <a:ext cx="7818120" cy="411480"/>
          </a:xfrm>
          <a:prstGeom prst="roundRect">
            <a:avLst>
              <a:gd name="adj" fmla="val 8889"/>
            </a:avLst>
          </a:prstGeom>
          <a:solidFill>
            <a:srgbClr val="292927"/>
          </a:solidFill>
          <a:ln w="12700">
            <a:solidFill>
              <a:srgbClr val="2929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5687568"/>
            <a:ext cx="736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AI/chatbot can be a delivery option - but it is not the problem statement.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5216" y="614476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77771"/>
                </a:solidFill>
              </a:rPr>
              <a:t>Source: docs/my-research/04-wealth-advice-improvement-ideas-and-tests.md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00"/>
                </a:solidFill>
              </a:rPr>
              <a:t>07 - DESIGN THINKING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201E"/>
                </a:solidFill>
              </a:rPr>
              <a:t>How we propose to work as a 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1"/>
                </a:solidFill>
              </a:rPr>
              <a:t>The output of the first discussion should be a research focus - not a finished product idea.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103120" cy="3063240"/>
          </a:xfrm>
          <a:prstGeom prst="roundRect">
            <a:avLst>
              <a:gd name="adj" fmla="val 2174"/>
            </a:avLst>
          </a:prstGeom>
          <a:solidFill>
            <a:srgbClr val="FFF7CC"/>
          </a:solidFill>
          <a:ln w="19050">
            <a:solidFill>
              <a:srgbClr val="E2C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4168" y="2176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A00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0664" y="2697480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01E"/>
                </a:solidFill>
              </a:rPr>
              <a:t>UNDERSTAND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49808" y="3310128"/>
            <a:ext cx="17922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Choose market/user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Map today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Mark evidence &amp; assumptions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734056" y="3383280"/>
            <a:ext cx="164592" cy="0"/>
          </a:xfrm>
          <a:prstGeom prst="line">
            <a:avLst/>
          </a:prstGeom>
          <a:noFill/>
          <a:ln w="19050">
            <a:solidFill>
              <a:srgbClr val="A7A7A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874520"/>
            <a:ext cx="2103120" cy="3063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2176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666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697480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01E"/>
                </a:solidFill>
              </a:rPr>
              <a:t>EMPATHIZE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081528" y="3310128"/>
            <a:ext cx="17922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Hear recent customer experiences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Compare banker observations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065776" y="3383280"/>
            <a:ext cx="164592" cy="0"/>
          </a:xfrm>
          <a:prstGeom prst="line">
            <a:avLst/>
          </a:prstGeom>
          <a:noFill/>
          <a:ln w="19050">
            <a:solidFill>
              <a:srgbClr val="A7A7A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57800" y="1874520"/>
            <a:ext cx="2103120" cy="3063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2176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666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04104" y="2697480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01E"/>
                </a:solidFill>
              </a:rPr>
              <a:t>IDEATE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413248" y="3310128"/>
            <a:ext cx="17922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Generate multiple ways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to solve one focused problem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97496" y="3383280"/>
            <a:ext cx="164592" cy="0"/>
          </a:xfrm>
          <a:prstGeom prst="line">
            <a:avLst/>
          </a:prstGeom>
          <a:noFill/>
          <a:ln w="19050">
            <a:solidFill>
              <a:srgbClr val="A7A7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89520" y="1874520"/>
            <a:ext cx="2103120" cy="3063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2176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6661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35824" y="2697480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01E"/>
                </a:solidFill>
              </a:rPr>
              <a:t>PROTOTYPE + TEST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744968" y="3310128"/>
            <a:ext cx="17922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Build something small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Test one uncertain assumption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729216" y="3383280"/>
            <a:ext cx="164592" cy="0"/>
          </a:xfrm>
          <a:prstGeom prst="line">
            <a:avLst/>
          </a:prstGeom>
          <a:noFill/>
          <a:ln w="19050">
            <a:solidFill>
              <a:srgbClr val="A7A7A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21240" y="1874520"/>
            <a:ext cx="2103120" cy="3063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71048" y="21762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6661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67544" y="2697480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01E"/>
                </a:solidFill>
              </a:rPr>
              <a:t>BUSINESS CASE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0076688" y="3310128"/>
            <a:ext cx="17922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Customer value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Costs / feasibility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66661"/>
                </a:solidFill>
              </a:rPr>
              <a:t>Next pilot + measures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1280160" y="53218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01E"/>
                </a:solidFill>
              </a:rPr>
              <a:t>For our first live session: stay mostly in Understand. Later stages remain unfinished until the team actually does them.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" y="614476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77771"/>
                </a:solidFill>
              </a:rPr>
              <a:t>Source: RBI Innovation Box notes and docs/my-research/03-solving-our-challenge-with-design-thinking.md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00"/>
                </a:solidFill>
              </a:rPr>
              <a:t>08 - TEAM DECISIONS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201E"/>
                </a:solidFill>
              </a:rPr>
              <a:t>What should we leave the meeting with?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1"/>
                </a:solidFill>
              </a:rPr>
              <a:t>Three decisions would be more valuable than ten solution ideas.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10698480" cy="1143000"/>
          </a:xfrm>
          <a:prstGeom prst="roundRect">
            <a:avLst>
              <a:gd name="adj" fmla="val 4800"/>
            </a:avLst>
          </a:prstGeom>
          <a:solidFill>
            <a:srgbClr val="FFF7CC"/>
          </a:solidFill>
          <a:ln w="12700">
            <a:solidFill>
              <a:srgbClr val="E2C93B"/>
            </a:solidFill>
            <a:prstDash val="solid"/>
          </a:ln>
          <a:effectLst>
            <a:outerShdw sx="100000" sy="100000" kx="0" ky="0" algn="bl" rotWithShape="0" blurRad="1.1257758920364555e+78" dist="5.628879460182277e+77" dir="2.742118830047232e+92">
              <a:srgbClr val="000000">
                <a:alpha val="1.2000000000000001e+9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057400"/>
            <a:ext cx="566928" cy="566928"/>
          </a:xfrm>
          <a:prstGeom prst="ellipse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762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01E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1984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01E"/>
                </a:solidFill>
              </a:rPr>
              <a:t>Which market and customer?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196596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1"/>
                </a:solidFill>
              </a:rPr>
              <a:t>Choose one network bank and a specific customer group with a concrete need.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127248"/>
            <a:ext cx="10698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401568"/>
            <a:ext cx="566928" cy="566928"/>
          </a:xfrm>
          <a:prstGeom prst="ellipse">
            <a:avLst/>
          </a:prstGeom>
          <a:solidFill>
            <a:srgbClr val="292927"/>
          </a:solidFill>
          <a:ln w="12700">
            <a:solidFill>
              <a:srgbClr val="2929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5204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74520" y="33284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01E"/>
                </a:solidFill>
              </a:rPr>
              <a:t>Where is the pain?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3310128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1"/>
                </a:solidFill>
              </a:rPr>
              <a:t>Choose one or two journey moments to investigate - and state what evidence supports them.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471416"/>
            <a:ext cx="106984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9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4745736"/>
            <a:ext cx="566928" cy="566928"/>
          </a:xfrm>
          <a:prstGeom prst="ellipse">
            <a:avLst/>
          </a:prstGeom>
          <a:solidFill>
            <a:srgbClr val="292927"/>
          </a:solidFill>
          <a:ln w="12700">
            <a:solidFill>
              <a:srgbClr val="292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8646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672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01E"/>
                </a:solidFill>
              </a:rPr>
              <a:t>What do we need to learn next?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4654296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6661"/>
                </a:solidFill>
              </a:rPr>
              <a:t>Agree which customer experiences, current-system facts or banker observations we need before ideation.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828800" y="5833872"/>
            <a:ext cx="8503920" cy="338328"/>
          </a:xfrm>
          <a:prstGeom prst="roundRect">
            <a:avLst>
              <a:gd name="adj" fmla="val 10811"/>
            </a:avLst>
          </a:prstGeom>
          <a:solidFill>
            <a:srgbClr val="292927"/>
          </a:solidFill>
          <a:ln w="12700">
            <a:solidFill>
              <a:srgbClr val="2929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592074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Facilitation rule: first agree on the problem -&gt; then choose what to test.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7A00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201E"/>
                </a:solidFill>
              </a:rPr>
              <a:t>Evidence and source notes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6661"/>
                </a:solidFill>
              </a:rPr>
              <a:t>Use these as inputs and guardrails. Customer outcomes still need validation in the selected market.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783080"/>
            <a:ext cx="5349240" cy="4041648"/>
          </a:xfrm>
          <a:prstGeom prst="roundRect">
            <a:avLst>
              <a:gd name="adj" fmla="val 1131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1.4297353828862985e+82" dist="7.148676914431492e+81" dir="1.6452712980283393e+97">
              <a:srgbClr val="000000">
                <a:alpha val="1.2e+9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50292" cy="4041648"/>
          </a:xfrm>
          <a:prstGeom prst="rect">
            <a:avLst/>
          </a:prstGeom>
          <a:solidFill>
            <a:srgbClr val="FFD400"/>
          </a:solidFill>
          <a:ln w="12700">
            <a:solidFill>
              <a:srgbClr val="FFD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494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Project sources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04872"/>
            <a:ext cx="4946904" cy="3236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docs/challenges/00-overview.md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docs/challenges/01-research.md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docs/challenges/02-understand.md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docs/team-research/Innovation_School_English_Transcript-Veljko.txt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docs/my-research/01-...school-preparation.md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docs/my-research/02-...bank-services-and-retention.md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docs/my-research/03-...design-thinking.md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36208" y="1783080"/>
            <a:ext cx="5230368" cy="4041648"/>
          </a:xfrm>
          <a:prstGeom prst="roundRect">
            <a:avLst>
              <a:gd name="adj" fmla="val 1131"/>
            </a:avLst>
          </a:prstGeom>
          <a:solidFill>
            <a:srgbClr val="FFFFFF"/>
          </a:solidFill>
          <a:ln w="10160">
            <a:solidFill>
              <a:srgbClr val="E5E5E0"/>
            </a:solidFill>
            <a:prstDash val="solid"/>
          </a:ln>
          <a:effectLst>
            <a:outerShdw sx="100000" sy="100000" kx="0" ky="0" algn="bl" rotWithShape="0" blurRad="1.815763936265599e+86" dist="9.078819681327995e+85" dir="9.871627788170037e+101">
              <a:srgbClr val="000000">
                <a:alpha val="1.2e+10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6208" y="1783080"/>
            <a:ext cx="50292" cy="4041648"/>
          </a:xfrm>
          <a:prstGeom prst="rect">
            <a:avLst/>
          </a:prstGeom>
          <a:solidFill>
            <a:srgbClr val="A7C8E8"/>
          </a:solidFill>
          <a:ln w="12700">
            <a:solidFill>
              <a:srgbClr val="A7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65960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01E"/>
                </a:solidFill>
              </a:rPr>
              <a:t>Public examples referenced in research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37376" y="2404872"/>
            <a:ext cx="4828032" cy="3236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Raiffeisen Serbia Premium and financial planning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Tatra banka Premium care models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Raiffeisenbank Czech automated-advice disclosure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Finax digital investment journey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ING Smart Invest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Moneyfarm service tiers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4B4B47"/>
                </a:solidFill>
              </a:rPr>
              <a:t>ESMA MiFID II / suitability guidance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1234440" y="594360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666661"/>
                </a:solidFill>
              </a:rPr>
              <a:t>Evidence discipline: public pages show advertised capabilities; the expert transcript reports experience; neither proves adoption, satisfaction or group-wide performance.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A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RBI Innovation School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Challenge - Team Alignment</dc:title>
  <dc:subject>Mass-Affluent Wealth Advice - Team Alignment</dc:subject>
  <dc:creator>Arianit Lubishtani</dc:creator>
  <cp:lastModifiedBy>Arianit Lubishtani</cp:lastModifiedBy>
  <cp:revision>1</cp:revision>
  <dcterms:created xsi:type="dcterms:W3CDTF">2026-10-10T22:09:36Z</dcterms:created>
  <dcterms:modified xsi:type="dcterms:W3CDTF">2026-10-10T22:09:36Z</dcterms:modified>
</cp:coreProperties>
</file>