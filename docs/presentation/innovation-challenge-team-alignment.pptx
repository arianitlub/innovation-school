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400"/>
          </a:solidFill>
          <a:ln w="12700">
            <a:solidFill>
              <a:srgbClr val="FFD4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739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A6A66"/>
                </a:solidFill>
              </a:rPr>
              <a:t>RBI Innovation School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595360" y="64739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A6A66"/>
                </a:solidFill>
              </a:rPr>
              <a:t>Mass-Affluent Wealth Advice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73952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A6A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73952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A6A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D400"/>
          </a:solidFill>
          <a:ln w="12700">
            <a:solidFill>
              <a:srgbClr val="FFD4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777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FD400"/>
                </a:solidFill>
              </a:rPr>
              <a:t>INNOVATION CHALLENGE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234440"/>
            <a:ext cx="640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Mass-Affluent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Wealth Advice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76656" y="2907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8E8E4"/>
                </a:solidFill>
              </a:rPr>
              <a:t>Team alignment before we start Design Thinking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360920" y="1097280"/>
            <a:ext cx="3931920" cy="4023360"/>
          </a:xfrm>
          <a:prstGeom prst="roundRect">
            <a:avLst>
              <a:gd name="adj" fmla="val 1395"/>
            </a:avLst>
          </a:prstGeom>
          <a:solidFill>
            <a:srgbClr val="343432"/>
          </a:solidFill>
          <a:ln w="12700">
            <a:solidFill>
              <a:srgbClr val="4646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508760"/>
            <a:ext cx="502920" cy="502920"/>
          </a:xfrm>
          <a:prstGeom prst="ellipse">
            <a:avLst/>
          </a:prstGeom>
          <a:solidFill>
            <a:srgbClr val="FFD400"/>
          </a:solidFill>
          <a:ln w="12700">
            <a:solidFill>
              <a:srgbClr val="FFD4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1600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201E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58200" y="15544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Understand the challenge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0" y="2350008"/>
            <a:ext cx="502920" cy="502920"/>
          </a:xfrm>
          <a:prstGeom prst="ellipse">
            <a:avLst/>
          </a:prstGeom>
          <a:solidFill>
            <a:srgbClr val="FFD400"/>
          </a:solidFill>
          <a:ln w="12700">
            <a:solidFill>
              <a:srgbClr val="FFD4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0" y="244144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201E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58200" y="2395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Separate facts from assumptions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0" y="3191256"/>
            <a:ext cx="502920" cy="502920"/>
          </a:xfrm>
          <a:prstGeom prst="ellipse">
            <a:avLst/>
          </a:prstGeom>
          <a:solidFill>
            <a:srgbClr val="FFD400"/>
          </a:solidFill>
          <a:ln w="12700">
            <a:solidFill>
              <a:srgbClr val="FFD4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328269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201E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58200" y="323697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Choose a customer and pain point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772400" y="4032504"/>
            <a:ext cx="502920" cy="502920"/>
          </a:xfrm>
          <a:prstGeom prst="ellipse">
            <a:avLst/>
          </a:prstGeom>
          <a:solidFill>
            <a:srgbClr val="FFD400"/>
          </a:solidFill>
          <a:ln w="12700">
            <a:solidFill>
              <a:srgbClr val="FFD4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0" y="412394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201E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58200" y="407822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Only then explore solutions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6656" y="59893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DBDB8"/>
                </a:solidFill>
              </a:rPr>
              <a:t>Prepared for team discussion - 13.10.2026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73952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A6A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7A00"/>
                </a:solidFill>
              </a:rPr>
              <a:t>01 - CHALLENGE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0201E"/>
                </a:solidFill>
              </a:rPr>
              <a:t>What are we trying to solve?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6661"/>
                </a:solidFill>
              </a:rPr>
              <a:t>Start with the official question, then use a simpler working formulation to guide discussion.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109728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  <a:effectLst>
            <a:outerShdw sx="100000" sy="100000" kx="0" ky="0" algn="bl" rotWithShape="0" blurRad="15240" dist="762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029968"/>
            <a:ext cx="1572768" cy="292608"/>
          </a:xfrm>
          <a:prstGeom prst="roundRect">
            <a:avLst>
              <a:gd name="adj" fmla="val 43750"/>
            </a:avLst>
          </a:prstGeom>
          <a:solidFill>
            <a:srgbClr val="FFD400"/>
          </a:solidFill>
          <a:ln w="12700">
            <a:solidFill>
              <a:srgbClr val="FFD4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075688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0201E"/>
                </a:solidFill>
              </a:rPr>
              <a:t>OFFICIAL CHALLENGE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2468880"/>
            <a:ext cx="1037844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0201E"/>
                </a:solidFill>
              </a:rPr>
              <a:t>"How are mass affluent clients served with wealth management advice and where are the gaps? How can we find more ways to offer more value to customers during the process?"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3566160"/>
            <a:ext cx="10972800" cy="1417320"/>
          </a:xfrm>
          <a:prstGeom prst="roundRect">
            <a:avLst>
              <a:gd name="adj" fmla="val 3871"/>
            </a:avLst>
          </a:prstGeom>
          <a:solidFill>
            <a:srgbClr val="FFF7CC"/>
          </a:solidFill>
          <a:ln w="12700">
            <a:solidFill>
              <a:srgbClr val="E8D66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3767328"/>
            <a:ext cx="1325880" cy="292608"/>
          </a:xfrm>
          <a:prstGeom prst="roundRect">
            <a:avLst>
              <a:gd name="adj" fmla="val 43750"/>
            </a:avLst>
          </a:prstGeom>
          <a:solidFill>
            <a:srgbClr val="FFF0A6"/>
          </a:solidFill>
          <a:ln w="12700">
            <a:solidFill>
              <a:srgbClr val="FFF0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813048"/>
            <a:ext cx="1252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0201E"/>
                </a:solidFill>
              </a:rPr>
              <a:t>WORKING GOAL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0" y="4187952"/>
            <a:ext cx="10332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0201E"/>
                </a:solidFill>
              </a:rPr>
              <a:t>How can we give mass-affluent customers useful, affordable financial guidance that helps them achieve their goals and strengthens their relationship with the bank?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2743200" y="52303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1"/>
                </a:solidFill>
              </a:rPr>
              <a:t>Preparation framing - not yet a team-approved scope or solution.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85216" y="6144768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i="1" dirty="0">
                <a:solidFill>
                  <a:srgbClr val="777771"/>
                </a:solidFill>
              </a:rPr>
              <a:t>Sources: docs/challenges/00-overview.md; docs/my-research/01-start-here-challenge-basics-and-school-preparation.md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73952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A6A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7A00"/>
                </a:solidFill>
              </a:rPr>
              <a:t>02 - CUSTOMER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0201E"/>
                </a:solidFill>
              </a:rPr>
              <a:t>Who are we talking about?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6661"/>
                </a:solidFill>
              </a:rPr>
              <a:t>The labels overlap. Choose a real market and customer group instead of importing one global threshold.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3291840" cy="31546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193548000" dist="96774000" dir="162000000000">
              <a:srgbClr val="000000">
                <a:alpha val="12000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828800"/>
            <a:ext cx="50292" cy="3154680"/>
          </a:xfrm>
          <a:prstGeom prst="rect">
            <a:avLst/>
          </a:prstGeom>
          <a:solidFill>
            <a:srgbClr val="FFD400"/>
          </a:solidFill>
          <a:ln w="12700">
            <a:solidFill>
              <a:srgbClr val="FFD4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11680"/>
            <a:ext cx="2889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Mass affluent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6968" y="2450592"/>
            <a:ext cx="2889504" cy="23500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A customer group with meaningful savings, income or investment potential - below the most intensive private-banking relationship. The exact definition varies by market.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443984" y="1828800"/>
            <a:ext cx="3291840" cy="31546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2458059600000" dist="1229029800000" dir="9720000000000000">
              <a:srgbClr val="000000">
                <a:alpha val="12000000000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3984" y="1828800"/>
            <a:ext cx="50292" cy="3154680"/>
          </a:xfrm>
          <a:prstGeom prst="rect">
            <a:avLst/>
          </a:prstGeom>
          <a:solidFill>
            <a:srgbClr val="A7C8E8"/>
          </a:solidFill>
          <a:ln w="12700">
            <a:solidFill>
              <a:srgbClr val="A7C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011680"/>
            <a:ext cx="2889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Premium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450592"/>
            <a:ext cx="2889504" cy="23500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A service proposition or tier. It may add a named banker, planning, video/phone access, preferential pricing or other benefits. A mass-affluent customer may already be Premium.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8202168" y="1828800"/>
            <a:ext cx="3291840" cy="31546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31217356920000000" dist="15608678460000000" dir="583200000000000000000">
              <a:srgbClr val="000000">
                <a:alpha val="1200000000000000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2168" y="1828800"/>
            <a:ext cx="50292" cy="3154680"/>
          </a:xfrm>
          <a:prstGeom prst="rect">
            <a:avLst/>
          </a:prstGeom>
          <a:solidFill>
            <a:srgbClr val="B6DDBB"/>
          </a:solidFill>
          <a:ln w="12700">
            <a:solidFill>
              <a:srgbClr val="B6DDB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03336" y="2011680"/>
            <a:ext cx="2889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Private banking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03336" y="2450592"/>
            <a:ext cx="2889504" cy="23500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A more intensive proposition for wealthier or more complex relationships, with dedicated advisers and specialist access.</a:t>
            </a:r>
            <a:endParaRPr lang="en-US" sz="1130" dirty="0"/>
          </a:p>
        </p:txBody>
      </p:sp>
      <p:sp>
        <p:nvSpPr>
          <p:cNvPr id="17" name="Shape 15"/>
          <p:cNvSpPr/>
          <p:nvPr/>
        </p:nvSpPr>
        <p:spPr>
          <a:xfrm>
            <a:off x="2971800" y="5266944"/>
            <a:ext cx="6263640" cy="493776"/>
          </a:xfrm>
          <a:prstGeom prst="roundRect">
            <a:avLst>
              <a:gd name="adj" fmla="val 9259"/>
            </a:avLst>
          </a:prstGeom>
          <a:solidFill>
            <a:srgbClr val="292927"/>
          </a:solidFill>
          <a:ln w="12700">
            <a:solidFill>
              <a:srgbClr val="2929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5394960"/>
            <a:ext cx="5806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Mass affluent = customer description | Premium = service proposition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5216" y="6144768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i="1" dirty="0">
                <a:solidFill>
                  <a:srgbClr val="777771"/>
                </a:solidFill>
              </a:rPr>
              <a:t>Source: preparation research and public examples summarized in docs/my-research/02-mass-affluent-customers-bank-services-and-retention.md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73952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A6A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7A00"/>
                </a:solidFill>
              </a:rPr>
              <a:t>03 - EVIDENCE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0201E"/>
                </a:solidFill>
              </a:rPr>
              <a:t>What do we know - and what is still a hypothesis?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6661"/>
                </a:solidFill>
              </a:rPr>
              <a:t>Research is useful, but it is not the same as validated customer evidence.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2560320" cy="333756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  <a:effectLst>
            <a:outerShdw sx="100000" sy="100000" kx="0" ky="0" algn="bl" rotWithShape="0" blurRad="396460432884000000000" dist="198230216442000000000" dir="3.4992e+25">
              <a:srgbClr val="000000">
                <a:alpha val="1.2e+24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29968"/>
            <a:ext cx="2194560" cy="292608"/>
          </a:xfrm>
          <a:prstGeom prst="roundRect">
            <a:avLst>
              <a:gd name="adj" fmla="val 43750"/>
            </a:avLst>
          </a:prstGeom>
          <a:solidFill>
            <a:srgbClr val="DAF2DD"/>
          </a:solidFill>
          <a:ln w="12700">
            <a:solidFill>
              <a:srgbClr val="DAF2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075688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0201E"/>
                </a:solidFill>
              </a:rPr>
              <a:t>DOCUMENTED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6" y="257860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Public services exist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59536" y="3200400"/>
            <a:ext cx="21579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4C4C48"/>
                </a:solidFill>
              </a:rPr>
              <a:t>Premium planning, banker access and automated advice already exist in some markets. We should not assume "there is no advice."</a:t>
            </a:r>
            <a:endParaRPr lang="en-US" sz="1110" dirty="0"/>
          </a:p>
        </p:txBody>
      </p:sp>
      <p:sp>
        <p:nvSpPr>
          <p:cNvPr id="10" name="Shape 8"/>
          <p:cNvSpPr/>
          <p:nvPr/>
        </p:nvSpPr>
        <p:spPr>
          <a:xfrm>
            <a:off x="3401568" y="1828800"/>
            <a:ext cx="2560320" cy="333756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  <a:effectLst>
            <a:outerShdw sx="100000" sy="100000" kx="0" ky="0" algn="bl" rotWithShape="0" blurRad="5.0350474976268e+24" dist="2.5175237488134e+24" dir="2.09952e+30">
              <a:srgbClr val="000000">
                <a:alpha val="1.2e+29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84448" y="2029968"/>
            <a:ext cx="2194560" cy="292608"/>
          </a:xfrm>
          <a:prstGeom prst="roundRect">
            <a:avLst>
              <a:gd name="adj" fmla="val 43750"/>
            </a:avLst>
          </a:prstGeom>
          <a:solidFill>
            <a:srgbClr val="DCEAF7"/>
          </a:solidFill>
          <a:ln w="12700">
            <a:solidFill>
              <a:srgbClr val="DCEA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21024" y="2075688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0201E"/>
                </a:solidFill>
              </a:rPr>
              <a:t>REPORTED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02736" y="257860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Expert observations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200400"/>
            <a:ext cx="21579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4C4C48"/>
                </a:solidFill>
              </a:rPr>
              <a:t>Branch capacity, paperwork, confusing tools, education needs, simpler workflows and assisted digital support recur in the internal interview.</a:t>
            </a:r>
            <a:endParaRPr lang="en-US" sz="1110" dirty="0"/>
          </a:p>
        </p:txBody>
      </p:sp>
      <p:sp>
        <p:nvSpPr>
          <p:cNvPr id="15" name="Shape 13"/>
          <p:cNvSpPr/>
          <p:nvPr/>
        </p:nvSpPr>
        <p:spPr>
          <a:xfrm>
            <a:off x="6144768" y="1828800"/>
            <a:ext cx="2560320" cy="333756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  <a:effectLst>
            <a:outerShdw sx="100000" sy="100000" kx="0" ky="0" algn="bl" rotWithShape="0" blurRad="6.3945103219860365e+28" dist="3.1972551609930183e+28" dir="1.259712e+35">
              <a:srgbClr val="000000">
                <a:alpha val="1.2e+34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27648" y="2029968"/>
            <a:ext cx="2194560" cy="292608"/>
          </a:xfrm>
          <a:prstGeom prst="roundRect">
            <a:avLst>
              <a:gd name="adj" fmla="val 43750"/>
            </a:avLst>
          </a:prstGeom>
          <a:solidFill>
            <a:srgbClr val="FBE5D6"/>
          </a:solidFill>
          <a:ln w="12700">
            <a:solidFill>
              <a:srgbClr val="FBE5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2075688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0201E"/>
                </a:solidFill>
              </a:rPr>
              <a:t>HYPOTHESIS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345936" y="257860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Possible customer pain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45936" y="3200400"/>
            <a:ext cx="21579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4C4C48"/>
                </a:solidFill>
              </a:rPr>
              <a:t>Customers may struggle to understand a proposal, get help at the right moment, complete the action or know what to do afterwards.</a:t>
            </a:r>
            <a:endParaRPr lang="en-US" sz="1110" dirty="0"/>
          </a:p>
        </p:txBody>
      </p:sp>
      <p:sp>
        <p:nvSpPr>
          <p:cNvPr id="20" name="Shape 18"/>
          <p:cNvSpPr/>
          <p:nvPr/>
        </p:nvSpPr>
        <p:spPr>
          <a:xfrm>
            <a:off x="8887968" y="1828800"/>
            <a:ext cx="2560320" cy="333756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  <a:effectLst>
            <a:outerShdw sx="100000" sy="100000" kx="0" ky="0" algn="bl" rotWithShape="0" blurRad="8.121028108922266e+32" dist="4.060514054461133e+32" dir="7.558272e+39">
              <a:srgbClr val="000000">
                <a:alpha val="1.1999999999999999e+3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70848" y="2029968"/>
            <a:ext cx="2194560" cy="292608"/>
          </a:xfrm>
          <a:prstGeom prst="roundRect">
            <a:avLst>
              <a:gd name="adj" fmla="val 43750"/>
            </a:avLst>
          </a:prstGeom>
          <a:solidFill>
            <a:srgbClr val="F8D7DA"/>
          </a:solidFill>
          <a:ln w="12700">
            <a:solidFill>
              <a:srgbClr val="F8D7D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07424" y="2075688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0201E"/>
                </a:solidFill>
              </a:rPr>
              <a:t>NOT DECIDED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089136" y="257860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Solution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089136" y="3200400"/>
            <a:ext cx="21579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4C4C48"/>
                </a:solidFill>
              </a:rPr>
              <a:t>No chatbot, platform, app or operating model has been selected. Ideas are inputs for testing, not team decisions.</a:t>
            </a:r>
            <a:endParaRPr lang="en-US" sz="1110" dirty="0"/>
          </a:p>
        </p:txBody>
      </p:sp>
      <p:sp>
        <p:nvSpPr>
          <p:cNvPr id="25" name="Text 23"/>
          <p:cNvSpPr/>
          <p:nvPr/>
        </p:nvSpPr>
        <p:spPr>
          <a:xfrm>
            <a:off x="1280160" y="5458968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201E"/>
                </a:solidFill>
              </a:rPr>
              <a:t>Best next move: validate the pain with a specific market, recent customer experiences and the real current journey.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85216" y="6144768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i="1" dirty="0">
                <a:solidFill>
                  <a:srgbClr val="777771"/>
                </a:solidFill>
              </a:rPr>
              <a:t>Sources: expert transcript; public service examples; evidence caveats in docs/working-context.md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73952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A6A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7A00"/>
                </a:solidFill>
              </a:rPr>
              <a:t>04 - JOURNEY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0201E"/>
                </a:solidFill>
              </a:rPr>
              <a:t>A customer journey to investigate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6661"/>
                </a:solidFill>
              </a:rPr>
              <a:t>This is an investigation map - not a claim that every bank or customer follows the same process.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1664208" cy="2157984"/>
          </a:xfrm>
          <a:prstGeom prst="roundRect">
            <a:avLst>
              <a:gd name="adj" fmla="val 2747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" y="2276856"/>
            <a:ext cx="594360" cy="594360"/>
          </a:xfrm>
          <a:prstGeom prst="ellipse">
            <a:avLst/>
          </a:prstGeom>
          <a:solidFill>
            <a:srgbClr val="292927"/>
          </a:solidFill>
          <a:ln w="12700">
            <a:solidFill>
              <a:srgbClr val="2929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8136" y="240487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4944" y="2990088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01E"/>
                </a:solidFill>
              </a:rPr>
              <a:t>Recognise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3232" y="35204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66661"/>
                </a:solidFill>
              </a:rPr>
              <a:t>What should I do with my money?</a:t>
            </a:r>
            <a:endParaRPr lang="en-US" sz="970" dirty="0"/>
          </a:p>
        </p:txBody>
      </p:sp>
      <p:sp>
        <p:nvSpPr>
          <p:cNvPr id="10" name="Shape 8"/>
          <p:cNvSpPr/>
          <p:nvPr/>
        </p:nvSpPr>
        <p:spPr>
          <a:xfrm>
            <a:off x="2258568" y="3136392"/>
            <a:ext cx="210312" cy="0"/>
          </a:xfrm>
          <a:prstGeom prst="line">
            <a:avLst/>
          </a:prstGeom>
          <a:noFill/>
          <a:ln w="19050">
            <a:solidFill>
              <a:srgbClr val="A7A7A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68880" y="2057400"/>
            <a:ext cx="1664208" cy="2157984"/>
          </a:xfrm>
          <a:prstGeom prst="roundRect">
            <a:avLst>
              <a:gd name="adj" fmla="val 2747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0088" y="2276856"/>
            <a:ext cx="594360" cy="594360"/>
          </a:xfrm>
          <a:prstGeom prst="ellipse">
            <a:avLst/>
          </a:prstGeom>
          <a:solidFill>
            <a:srgbClr val="292927"/>
          </a:solidFill>
          <a:ln w="12700">
            <a:solidFill>
              <a:srgbClr val="2929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0088" y="240487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96896" y="2990088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01E"/>
                </a:solidFill>
              </a:rPr>
              <a:t>Find help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15184" y="35204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66661"/>
                </a:solidFill>
              </a:rPr>
              <a:t>Where do I start?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4160520" y="3136392"/>
            <a:ext cx="210312" cy="0"/>
          </a:xfrm>
          <a:prstGeom prst="line">
            <a:avLst/>
          </a:prstGeom>
          <a:noFill/>
          <a:ln w="19050">
            <a:solidFill>
              <a:srgbClr val="A7A7A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70832" y="2057400"/>
            <a:ext cx="1664208" cy="2157984"/>
          </a:xfrm>
          <a:prstGeom prst="roundRect">
            <a:avLst>
              <a:gd name="adj" fmla="val 2747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92040" y="2276856"/>
            <a:ext cx="594360" cy="594360"/>
          </a:xfrm>
          <a:prstGeom prst="ellipse">
            <a:avLst/>
          </a:prstGeom>
          <a:solidFill>
            <a:srgbClr val="292927"/>
          </a:solidFill>
          <a:ln w="12700">
            <a:solidFill>
              <a:srgbClr val="2929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240487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98848" y="2990088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01E"/>
                </a:solidFill>
              </a:rPr>
              <a:t>Describe goals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17136" y="35204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66661"/>
                </a:solidFill>
              </a:rPr>
              <a:t>What do I need, when, and why?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6062472" y="3136392"/>
            <a:ext cx="210312" cy="0"/>
          </a:xfrm>
          <a:prstGeom prst="line">
            <a:avLst/>
          </a:prstGeom>
          <a:noFill/>
          <a:ln w="19050">
            <a:solidFill>
              <a:srgbClr val="A7A7A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72784" y="2057400"/>
            <a:ext cx="1664208" cy="2157984"/>
          </a:xfrm>
          <a:prstGeom prst="roundRect">
            <a:avLst>
              <a:gd name="adj" fmla="val 2747"/>
            </a:avLst>
          </a:prstGeom>
          <a:solidFill>
            <a:srgbClr val="FFF7CC"/>
          </a:solidFill>
          <a:ln w="19050">
            <a:solidFill>
              <a:srgbClr val="E2C9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93992" y="2276856"/>
            <a:ext cx="594360" cy="594360"/>
          </a:xfrm>
          <a:prstGeom prst="ellipse">
            <a:avLst/>
          </a:prstGeom>
          <a:solidFill>
            <a:srgbClr val="FFD400"/>
          </a:solidFill>
          <a:ln w="12700">
            <a:solidFill>
              <a:srgbClr val="FFD4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93992" y="240487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01E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0" y="2990088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01E"/>
                </a:solidFill>
              </a:rPr>
              <a:t>Understand proposal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19088" y="35204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66661"/>
                </a:solidFill>
              </a:rPr>
              <a:t>Does this fit me?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7964424" y="3136392"/>
            <a:ext cx="210312" cy="0"/>
          </a:xfrm>
          <a:prstGeom prst="line">
            <a:avLst/>
          </a:prstGeom>
          <a:noFill/>
          <a:ln w="19050">
            <a:solidFill>
              <a:srgbClr val="A7A7A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174736" y="2057400"/>
            <a:ext cx="1664208" cy="2157984"/>
          </a:xfrm>
          <a:prstGeom prst="roundRect">
            <a:avLst>
              <a:gd name="adj" fmla="val 2747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695944" y="2276856"/>
            <a:ext cx="594360" cy="594360"/>
          </a:xfrm>
          <a:prstGeom prst="ellipse">
            <a:avLst/>
          </a:prstGeom>
          <a:solidFill>
            <a:srgbClr val="292927"/>
          </a:solidFill>
          <a:ln w="12700">
            <a:solidFill>
              <a:srgbClr val="2929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95944" y="240487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302752" y="2990088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01E"/>
                </a:solidFill>
              </a:rPr>
              <a:t>Complete action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21040" y="35204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66661"/>
                </a:solidFill>
              </a:rPr>
              <a:t>Can I sign/fund it easily?</a:t>
            </a:r>
            <a:endParaRPr lang="en-US" sz="970" dirty="0"/>
          </a:p>
        </p:txBody>
      </p:sp>
      <p:sp>
        <p:nvSpPr>
          <p:cNvPr id="34" name="Shape 32"/>
          <p:cNvSpPr/>
          <p:nvPr/>
        </p:nvSpPr>
        <p:spPr>
          <a:xfrm>
            <a:off x="9866376" y="3136392"/>
            <a:ext cx="210312" cy="0"/>
          </a:xfrm>
          <a:prstGeom prst="line">
            <a:avLst/>
          </a:prstGeom>
          <a:noFill/>
          <a:ln w="19050">
            <a:solidFill>
              <a:srgbClr val="A7A7A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076688" y="2057400"/>
            <a:ext cx="1664208" cy="2157984"/>
          </a:xfrm>
          <a:prstGeom prst="roundRect">
            <a:avLst>
              <a:gd name="adj" fmla="val 2747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597896" y="2276856"/>
            <a:ext cx="594360" cy="594360"/>
          </a:xfrm>
          <a:prstGeom prst="ellipse">
            <a:avLst/>
          </a:prstGeom>
          <a:solidFill>
            <a:srgbClr val="292927"/>
          </a:solidFill>
          <a:ln w="12700">
            <a:solidFill>
              <a:srgbClr val="29292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597896" y="240487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204704" y="2990088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01E"/>
                </a:solidFill>
              </a:rPr>
              <a:t>Review progress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222992" y="35204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66661"/>
                </a:solidFill>
              </a:rPr>
              <a:t>Am I still on track?</a:t>
            </a:r>
            <a:endParaRPr lang="en-US" sz="970" dirty="0"/>
          </a:p>
        </p:txBody>
      </p:sp>
      <p:sp>
        <p:nvSpPr>
          <p:cNvPr id="40" name="Shape 38"/>
          <p:cNvSpPr/>
          <p:nvPr/>
        </p:nvSpPr>
        <p:spPr>
          <a:xfrm>
            <a:off x="1828800" y="4800600"/>
            <a:ext cx="8503920" cy="621792"/>
          </a:xfrm>
          <a:prstGeom prst="roundRect">
            <a:avLst>
              <a:gd name="adj" fmla="val 7353"/>
            </a:avLst>
          </a:prstGeom>
          <a:solidFill>
            <a:srgbClr val="EFEFEB"/>
          </a:solidFill>
          <a:ln w="12700">
            <a:solidFill>
              <a:srgbClr val="DEDED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57400" y="4974336"/>
            <a:ext cx="8046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20201E"/>
                </a:solidFill>
              </a:rPr>
              <a:t>Question: where does the customer become uncertain, stop, repeat information, or seek help elsewhere?</a:t>
            </a:r>
            <a:endParaRPr lang="en-US" sz="1220" dirty="0"/>
          </a:p>
        </p:txBody>
      </p:sp>
      <p:sp>
        <p:nvSpPr>
          <p:cNvPr id="42" name="Text 40"/>
          <p:cNvSpPr/>
          <p:nvPr/>
        </p:nvSpPr>
        <p:spPr>
          <a:xfrm>
            <a:off x="585216" y="6144768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i="1" dirty="0">
                <a:solidFill>
                  <a:srgbClr val="777771"/>
                </a:solidFill>
              </a:rPr>
              <a:t>Source: docs/my-research/03-solving-our-challenge-with-design-thinking.md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73952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A6A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7A00"/>
                </a:solidFill>
              </a:rPr>
              <a:t>05 - INSPIRATION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0201E"/>
                </a:solidFill>
              </a:rPr>
              <a:t>What are others already doing?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6661"/>
                </a:solidFill>
              </a:rPr>
              <a:t>Examples show possible operating models - they do not prove what our target customer needs.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651760" cy="347472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1.0313705698331278e+37" dist="5.156852849165639e+36" dir="4.5349632000000006e+44">
              <a:srgbClr val="000000">
                <a:alpha val="1.1999999999999999e+44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83080"/>
            <a:ext cx="50292" cy="3474720"/>
          </a:xfrm>
          <a:prstGeom prst="rect">
            <a:avLst/>
          </a:prstGeom>
          <a:solidFill>
            <a:srgbClr val="FFD400"/>
          </a:solidFill>
          <a:ln w="12700">
            <a:solidFill>
              <a:srgbClr val="FFD4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96596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Raiffeisen Serbia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404872"/>
            <a:ext cx="2249424" cy="2670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Premium publicly includes personal banker access, video contact and planning across saving/investing, financing, protection and retirement.</a:t>
            </a:r>
            <a:endParaRPr lang="en-US" sz="1130" dirty="0"/>
          </a:p>
          <a:p>
            <a:pPr indent="0" marL="0">
              <a:buNone/>
            </a:pP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Lesson: existing human and planning capabilities may already cover part of the need.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3429000" y="1783080"/>
            <a:ext cx="2651760" cy="347472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1.3098406236880722e+41" dist="6.549203118440361e+40" dir="2.72097792e+49">
              <a:srgbClr val="000000">
                <a:alpha val="1.2e+49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783080"/>
            <a:ext cx="50292" cy="3474720"/>
          </a:xfrm>
          <a:prstGeom prst="rect">
            <a:avLst/>
          </a:prstGeom>
          <a:solidFill>
            <a:srgbClr val="A7C8E8"/>
          </a:solidFill>
          <a:ln w="12700">
            <a:solidFill>
              <a:srgbClr val="A7C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0168" y="196596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Tatra banka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30168" y="2404872"/>
            <a:ext cx="2249424" cy="2670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Premium customers can have different care models, including a shared team or named banker.</a:t>
            </a:r>
            <a:endParaRPr lang="en-US" sz="1130" dirty="0"/>
          </a:p>
          <a:p>
            <a:pPr indent="0" marL="0">
              <a:buNone/>
            </a:pP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Lesson: human support can be organised by need and service model - not only one dedicated adviser per customer.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217920" y="1783080"/>
            <a:ext cx="2651760" cy="347472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1.6634975920838518e+45" dist="8.317487960419259e+44" dir="1.6325867520000003e+54">
              <a:srgbClr val="000000">
                <a:alpha val="1.2e+54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1783080"/>
            <a:ext cx="50292" cy="3474720"/>
          </a:xfrm>
          <a:prstGeom prst="rect">
            <a:avLst/>
          </a:prstGeom>
          <a:solidFill>
            <a:srgbClr val="B6DDBB"/>
          </a:solidFill>
          <a:ln w="12700">
            <a:solidFill>
              <a:srgbClr val="B6DDB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196596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Raiffeisen Czech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19088" y="2404872"/>
            <a:ext cx="2249424" cy="2670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Public disclosure describes automated advice with employee involvement on request, with a defined one-off scope.</a:t>
            </a:r>
            <a:endParaRPr lang="en-US" sz="1130" dirty="0"/>
          </a:p>
          <a:p>
            <a:pPr indent="0" marL="0">
              <a:buNone/>
            </a:pP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Lesson: automated advice exists; the opportunity may be continuity, explanation or follow-up.</a:t>
            </a:r>
            <a:endParaRPr lang="en-US" sz="1130" dirty="0"/>
          </a:p>
        </p:txBody>
      </p:sp>
      <p:sp>
        <p:nvSpPr>
          <p:cNvPr id="17" name="Shape 15"/>
          <p:cNvSpPr/>
          <p:nvPr/>
        </p:nvSpPr>
        <p:spPr>
          <a:xfrm>
            <a:off x="9006840" y="1783080"/>
            <a:ext cx="2651760" cy="347472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2.1126419419464918e+49" dist="1.0563209709732459e+49" dir="9.795520512000002e+58">
              <a:srgbClr val="000000">
                <a:alpha val="1.2e+5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006840" y="1783080"/>
            <a:ext cx="50292" cy="3474720"/>
          </a:xfrm>
          <a:prstGeom prst="rect">
            <a:avLst/>
          </a:prstGeom>
          <a:solidFill>
            <a:srgbClr val="F3C6A7"/>
          </a:solidFill>
          <a:ln w="12700">
            <a:solidFill>
              <a:srgbClr val="F3C6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08008" y="196596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Digital providers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208008" y="2404872"/>
            <a:ext cx="2249424" cy="2670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Finax / ING / Moneyfarm show digital onboarding, portfolio journeys and tiered human support.</a:t>
            </a:r>
            <a:endParaRPr lang="en-US" sz="1130" dirty="0"/>
          </a:p>
          <a:p>
            <a:pPr indent="0" marL="0">
              <a:buNone/>
            </a:pP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Lesson: the full journey matters - from intention through funding and monitoring.</a:t>
            </a:r>
            <a:endParaRPr lang="en-US" sz="1130" dirty="0"/>
          </a:p>
        </p:txBody>
      </p:sp>
      <p:sp>
        <p:nvSpPr>
          <p:cNvPr id="21" name="Text 19"/>
          <p:cNvSpPr/>
          <p:nvPr/>
        </p:nvSpPr>
        <p:spPr>
          <a:xfrm>
            <a:off x="1143000" y="55321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201E"/>
                </a:solidFill>
              </a:rPr>
              <a:t>What part of the current RBI journey needs improvement - rather than what new platform should we build?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85216" y="6144768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i="1" dirty="0">
                <a:solidFill>
                  <a:srgbClr val="777771"/>
                </a:solidFill>
              </a:rPr>
              <a:t>Sources: public examples listed in docs/my-research/05-sources-and-further-reading.md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73952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A6A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7A00"/>
                </a:solidFill>
              </a:rPr>
              <a:t>06 - IDEAS, NOT ANSWERS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0201E"/>
                </a:solidFill>
              </a:rPr>
              <a:t>Possible directions - only after we validate the pain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6661"/>
                </a:solidFill>
              </a:rPr>
              <a:t>Carry hypotheses into the workshop, but let customer evidence determine what deserves a prototype.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3456432" cy="1664208"/>
          </a:xfrm>
          <a:prstGeom prst="roundRect">
            <a:avLst>
              <a:gd name="adj" fmla="val 2747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2.6830552662720448e+53" dist="1.3415276331360224e+53" dir="5.877312307200001e+63">
              <a:srgbClr val="000000">
                <a:alpha val="1.2000000000000001e+64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755648"/>
            <a:ext cx="50292" cy="1664208"/>
          </a:xfrm>
          <a:prstGeom prst="rect">
            <a:avLst/>
          </a:prstGeom>
          <a:solidFill>
            <a:srgbClr val="FFD400"/>
          </a:solidFill>
          <a:ln w="12700">
            <a:solidFill>
              <a:srgbClr val="FFD4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93852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Explain better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3054096" cy="8595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One-page explanation linking a recommendation to goal, cost, risk and alternatives.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462272" y="1755648"/>
            <a:ext cx="3456432" cy="1664208"/>
          </a:xfrm>
          <a:prstGeom prst="roundRect">
            <a:avLst>
              <a:gd name="adj" fmla="val 2747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3.407480188165497e+57" dist="1.7037400940827486e+57" dir="3.526387384320001e+68">
              <a:srgbClr val="000000">
                <a:alpha val="1.2e+69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62272" y="1755648"/>
            <a:ext cx="50292" cy="1664208"/>
          </a:xfrm>
          <a:prstGeom prst="rect">
            <a:avLst/>
          </a:prstGeom>
          <a:solidFill>
            <a:srgbClr val="CFCFC9"/>
          </a:solidFill>
          <a:ln w="12700">
            <a:solidFill>
              <a:srgbClr val="CF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93852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Human help with context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63440" y="2377440"/>
            <a:ext cx="3054096" cy="8595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Easy escalation to a person without making the customer repeat everything.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8266176" y="1755648"/>
            <a:ext cx="3456432" cy="1664208"/>
          </a:xfrm>
          <a:prstGeom prst="roundRect">
            <a:avLst>
              <a:gd name="adj" fmla="val 2747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4.327499838970181e+61" dist="2.1637499194850906e+61" dir="2.1158324305920003e+73">
              <a:srgbClr val="000000">
                <a:alpha val="1.2e+74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66176" y="1755648"/>
            <a:ext cx="50292" cy="1664208"/>
          </a:xfrm>
          <a:prstGeom prst="rect">
            <a:avLst/>
          </a:prstGeom>
          <a:solidFill>
            <a:srgbClr val="CFCFC9"/>
          </a:solidFill>
          <a:ln w="12700">
            <a:solidFill>
              <a:srgbClr val="CF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67344" y="193852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Wealth health check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67344" y="2377440"/>
            <a:ext cx="3054096" cy="8595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A short conversation that identifies the next useful financial action - even if no product is sold.</a:t>
            </a:r>
            <a:endParaRPr lang="en-US" sz="1130" dirty="0"/>
          </a:p>
        </p:txBody>
      </p:sp>
      <p:sp>
        <p:nvSpPr>
          <p:cNvPr id="17" name="Shape 15"/>
          <p:cNvSpPr/>
          <p:nvPr/>
        </p:nvSpPr>
        <p:spPr>
          <a:xfrm>
            <a:off x="658368" y="3749040"/>
            <a:ext cx="3456432" cy="1664208"/>
          </a:xfrm>
          <a:prstGeom prst="roundRect">
            <a:avLst>
              <a:gd name="adj" fmla="val 2747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5.49592479549213e+65" dist="2.747962397746065e+65" dir="1.2694994583552002e+78">
              <a:srgbClr val="000000">
                <a:alpha val="1.2000000000000001e+7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749040"/>
            <a:ext cx="50292" cy="1664208"/>
          </a:xfrm>
          <a:prstGeom prst="rect">
            <a:avLst/>
          </a:prstGeom>
          <a:solidFill>
            <a:srgbClr val="CFCFC9"/>
          </a:solidFill>
          <a:ln w="12700">
            <a:solidFill>
              <a:srgbClr val="CFCF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93192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Goal review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9536" y="4370832"/>
            <a:ext cx="3054096" cy="8595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Help the customer understand whether they are still on track after the initial decision.</a:t>
            </a:r>
            <a:endParaRPr lang="en-US" sz="113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3456432" cy="1664208"/>
          </a:xfrm>
          <a:prstGeom prst="roundRect">
            <a:avLst>
              <a:gd name="adj" fmla="val 2747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6.979824490275004e+69" dist="3.489912245137502e+69" dir="7.616996750131201e+82">
              <a:srgbClr val="000000">
                <a:alpha val="1.2000000000000002e+84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62272" y="3749040"/>
            <a:ext cx="50292" cy="1664208"/>
          </a:xfrm>
          <a:prstGeom prst="rect">
            <a:avLst/>
          </a:prstGeom>
          <a:solidFill>
            <a:srgbClr val="CFCFC9"/>
          </a:solidFill>
          <a:ln w="12700">
            <a:solidFill>
              <a:srgbClr val="CFCF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393192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Guided first-investment journey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663440" y="4370832"/>
            <a:ext cx="3054096" cy="8595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Reduce confusion between interest, profiling, recommendation, signing and funding.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8266176" y="3749040"/>
            <a:ext cx="3456432" cy="1664208"/>
          </a:xfrm>
          <a:prstGeom prst="roundRect">
            <a:avLst>
              <a:gd name="adj" fmla="val 2747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8.864377102649255e+73" dist="4.4321885513246276e+73" dir="4.57019805007872e+87">
              <a:srgbClr val="000000">
                <a:alpha val="1.2000000000000002e+89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66176" y="3749040"/>
            <a:ext cx="50292" cy="1664208"/>
          </a:xfrm>
          <a:prstGeom prst="rect">
            <a:avLst/>
          </a:prstGeom>
          <a:solidFill>
            <a:srgbClr val="CFCFC9"/>
          </a:solidFill>
          <a:ln w="12700">
            <a:solidFill>
              <a:srgbClr val="CFCF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67344" y="393192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Education first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67344" y="4370832"/>
            <a:ext cx="3054096" cy="8595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Short approved content that improves understanding before a recommendation or conversation.</a:t>
            </a:r>
            <a:endParaRPr lang="en-US" sz="1130" dirty="0"/>
          </a:p>
        </p:txBody>
      </p:sp>
      <p:sp>
        <p:nvSpPr>
          <p:cNvPr id="29" name="Shape 27"/>
          <p:cNvSpPr/>
          <p:nvPr/>
        </p:nvSpPr>
        <p:spPr>
          <a:xfrm>
            <a:off x="2194560" y="5577840"/>
            <a:ext cx="7818120" cy="411480"/>
          </a:xfrm>
          <a:prstGeom prst="roundRect">
            <a:avLst>
              <a:gd name="adj" fmla="val 8889"/>
            </a:avLst>
          </a:prstGeom>
          <a:solidFill>
            <a:srgbClr val="292927"/>
          </a:solidFill>
          <a:ln w="12700">
            <a:solidFill>
              <a:srgbClr val="2929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23160" y="5687568"/>
            <a:ext cx="736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AI/chatbot can be a delivery option - but it is not the problem statement.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85216" y="6144768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i="1" dirty="0">
                <a:solidFill>
                  <a:srgbClr val="777771"/>
                </a:solidFill>
              </a:rPr>
              <a:t>Source: docs/my-research/04-wealth-advice-improvement-ideas-and-tests.md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73952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A6A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7A00"/>
                </a:solidFill>
              </a:rPr>
              <a:t>07 - DESIGN THINKING PLAN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0201E"/>
                </a:solidFill>
              </a:rPr>
              <a:t>How we propose to work as a team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6661"/>
                </a:solidFill>
              </a:rPr>
              <a:t>The output of the first discussion should be a research focus - not a finished product idea.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2103120" cy="3063240"/>
          </a:xfrm>
          <a:prstGeom prst="roundRect">
            <a:avLst>
              <a:gd name="adj" fmla="val 2174"/>
            </a:avLst>
          </a:prstGeom>
          <a:solidFill>
            <a:srgbClr val="FFF7CC"/>
          </a:solidFill>
          <a:ln w="19050">
            <a:solidFill>
              <a:srgbClr val="E2C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4168" y="21762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7A00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0664" y="2697480"/>
            <a:ext cx="1810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0201E"/>
                </a:solidFill>
              </a:rPr>
              <a:t>UNDERSTAND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749808" y="3310128"/>
            <a:ext cx="179222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666661"/>
                </a:solidFill>
              </a:rPr>
              <a:t>Choose market/user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666661"/>
                </a:solidFill>
              </a:rPr>
              <a:t>Map today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666661"/>
                </a:solidFill>
              </a:rPr>
              <a:t>Mark evidence &amp; assumptions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2734056" y="3383280"/>
            <a:ext cx="164592" cy="0"/>
          </a:xfrm>
          <a:prstGeom prst="line">
            <a:avLst/>
          </a:prstGeom>
          <a:noFill/>
          <a:ln w="19050">
            <a:solidFill>
              <a:srgbClr val="A7A7A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26080" y="1874520"/>
            <a:ext cx="2103120" cy="3063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75888" y="21762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66661"/>
                </a:solidFill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697480"/>
            <a:ext cx="1810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0201E"/>
                </a:solidFill>
              </a:rPr>
              <a:t>EMPATHIZE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3081528" y="3310128"/>
            <a:ext cx="179222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666661"/>
                </a:solidFill>
              </a:rPr>
              <a:t>Hear recent customer experiences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666661"/>
                </a:solidFill>
              </a:rPr>
              <a:t>Compare banker observations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5065776" y="3383280"/>
            <a:ext cx="164592" cy="0"/>
          </a:xfrm>
          <a:prstGeom prst="line">
            <a:avLst/>
          </a:prstGeom>
          <a:noFill/>
          <a:ln w="19050">
            <a:solidFill>
              <a:srgbClr val="A7A7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257800" y="1874520"/>
            <a:ext cx="2103120" cy="3063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07608" y="21762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66661"/>
                </a:solidFill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404104" y="2697480"/>
            <a:ext cx="1810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0201E"/>
                </a:solidFill>
              </a:rPr>
              <a:t>IDEATE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5413248" y="3310128"/>
            <a:ext cx="179222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666661"/>
                </a:solidFill>
              </a:rPr>
              <a:t>Generate multiple ways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666661"/>
                </a:solidFill>
              </a:rPr>
              <a:t>to solve one focused problem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7397496" y="3383280"/>
            <a:ext cx="164592" cy="0"/>
          </a:xfrm>
          <a:prstGeom prst="line">
            <a:avLst/>
          </a:prstGeom>
          <a:noFill/>
          <a:ln w="19050">
            <a:solidFill>
              <a:srgbClr val="A7A7A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89520" y="1874520"/>
            <a:ext cx="2103120" cy="3063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39328" y="21762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66661"/>
                </a:solidFill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735824" y="2697480"/>
            <a:ext cx="1810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0201E"/>
                </a:solidFill>
              </a:rPr>
              <a:t>PROTOTYPE + TEST</a:t>
            </a:r>
            <a:endParaRPr lang="en-US" sz="1320" dirty="0"/>
          </a:p>
        </p:txBody>
      </p:sp>
      <p:sp>
        <p:nvSpPr>
          <p:cNvPr id="23" name="Text 21"/>
          <p:cNvSpPr/>
          <p:nvPr/>
        </p:nvSpPr>
        <p:spPr>
          <a:xfrm>
            <a:off x="7744968" y="3310128"/>
            <a:ext cx="179222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666661"/>
                </a:solidFill>
              </a:rPr>
              <a:t>Build something small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666661"/>
                </a:solidFill>
              </a:rPr>
              <a:t>Test one uncertain assumption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9729216" y="3383280"/>
            <a:ext cx="164592" cy="0"/>
          </a:xfrm>
          <a:prstGeom prst="line">
            <a:avLst/>
          </a:prstGeom>
          <a:noFill/>
          <a:ln w="19050">
            <a:solidFill>
              <a:srgbClr val="A7A7A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921240" y="1874520"/>
            <a:ext cx="2103120" cy="3063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71048" y="21762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66661"/>
                </a:solidFill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0067544" y="2697480"/>
            <a:ext cx="1810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0201E"/>
                </a:solidFill>
              </a:rPr>
              <a:t>BUSINESS CASE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10076688" y="3310128"/>
            <a:ext cx="179222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666661"/>
                </a:solidFill>
              </a:rPr>
              <a:t>Customer value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666661"/>
                </a:solidFill>
              </a:rPr>
              <a:t>Costs / feasibility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666661"/>
                </a:solidFill>
              </a:rPr>
              <a:t>Next pilot + measures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1280160" y="532180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01E"/>
                </a:solidFill>
              </a:rPr>
              <a:t>For our first live session: stay mostly in Understand. Later stages remain unfinished until the team actually does them.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85216" y="6144768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i="1" dirty="0">
                <a:solidFill>
                  <a:srgbClr val="777771"/>
                </a:solidFill>
              </a:rPr>
              <a:t>Source: RBI Innovation Box notes and docs/my-research/03-solving-our-challenge-with-design-thinking.md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73952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A6A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7A00"/>
                </a:solidFill>
              </a:rPr>
              <a:t>08 - TEAM DECISIONS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0201E"/>
                </a:solidFill>
              </a:rPr>
              <a:t>What should we leave the meeting with?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6661"/>
                </a:solidFill>
              </a:rPr>
              <a:t>Three decisions would be more valuable than ten solution ideas.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10698480" cy="1143000"/>
          </a:xfrm>
          <a:prstGeom prst="roundRect">
            <a:avLst>
              <a:gd name="adj" fmla="val 4800"/>
            </a:avLst>
          </a:prstGeom>
          <a:solidFill>
            <a:srgbClr val="FFF7CC"/>
          </a:solidFill>
          <a:ln w="12700">
            <a:solidFill>
              <a:srgbClr val="E2C93B"/>
            </a:solidFill>
            <a:prstDash val="solid"/>
          </a:ln>
          <a:effectLst>
            <a:outerShdw sx="100000" sy="100000" kx="0" ky="0" algn="bl" rotWithShape="0" blurRad="1.1257758920364555e+78" dist="5.628879460182277e+77" dir="2.742118830047232e+92">
              <a:srgbClr val="000000">
                <a:alpha val="1.2000000000000001e+94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057400"/>
            <a:ext cx="566928" cy="566928"/>
          </a:xfrm>
          <a:prstGeom prst="ellipse">
            <a:avLst/>
          </a:prstGeom>
          <a:solidFill>
            <a:srgbClr val="FFD400"/>
          </a:solidFill>
          <a:ln w="12700">
            <a:solidFill>
              <a:srgbClr val="FFD4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176272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201E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19842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201E"/>
                </a:solidFill>
              </a:rPr>
              <a:t>Which market and customer?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00600" y="1965960"/>
            <a:ext cx="5989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66661"/>
                </a:solidFill>
              </a:rPr>
              <a:t>Choose one network bank and a specific customer group with a concrete need.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127248"/>
            <a:ext cx="1069848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3401568"/>
            <a:ext cx="566928" cy="566928"/>
          </a:xfrm>
          <a:prstGeom prst="ellipse">
            <a:avLst/>
          </a:prstGeom>
          <a:solidFill>
            <a:srgbClr val="292927"/>
          </a:solidFill>
          <a:ln w="12700">
            <a:solidFill>
              <a:srgbClr val="2929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520440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874520" y="332841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201E"/>
                </a:solidFill>
              </a:rPr>
              <a:t>Where is the pain?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3310128"/>
            <a:ext cx="5989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66661"/>
                </a:solidFill>
              </a:rPr>
              <a:t>Choose one or two journey moments to investigate - and state what evidence supports them.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471416"/>
            <a:ext cx="1069848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9D9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4745736"/>
            <a:ext cx="566928" cy="566928"/>
          </a:xfrm>
          <a:prstGeom prst="ellipse">
            <a:avLst/>
          </a:prstGeom>
          <a:solidFill>
            <a:srgbClr val="292927"/>
          </a:solidFill>
          <a:ln w="12700">
            <a:solidFill>
              <a:srgbClr val="2929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86460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74520" y="46725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201E"/>
                </a:solidFill>
              </a:rPr>
              <a:t>What do we need to learn next?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00600" y="4654296"/>
            <a:ext cx="5989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66661"/>
                </a:solidFill>
              </a:rPr>
              <a:t>Agree which customer experiences, current-system facts or banker observations we need before ideation.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828800" y="5833872"/>
            <a:ext cx="8503920" cy="338328"/>
          </a:xfrm>
          <a:prstGeom prst="roundRect">
            <a:avLst>
              <a:gd name="adj" fmla="val 10811"/>
            </a:avLst>
          </a:prstGeom>
          <a:solidFill>
            <a:srgbClr val="292927"/>
          </a:solidFill>
          <a:ln w="12700">
            <a:solidFill>
              <a:srgbClr val="2929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03120" y="5920740"/>
            <a:ext cx="7955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Facilitation rule: first agree on the problem -&gt; then choose what to test.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73952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A6A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7A00"/>
                </a:solidFill>
              </a:rPr>
              <a:t>APPENDIX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0201E"/>
                </a:solidFill>
              </a:rPr>
              <a:t>Evidence and source notes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85216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6661"/>
                </a:solidFill>
              </a:rPr>
              <a:t>Use these as inputs and guardrails. Customer outcomes still need validation in the selected market.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783080"/>
            <a:ext cx="5349240" cy="4041648"/>
          </a:xfrm>
          <a:prstGeom prst="roundRect">
            <a:avLst>
              <a:gd name="adj" fmla="val 1131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1.4297353828862985e+82" dist="7.148676914431492e+81" dir="1.6452712980283393e+97">
              <a:srgbClr val="000000">
                <a:alpha val="1.2e+99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50292" cy="4041648"/>
          </a:xfrm>
          <a:prstGeom prst="rect">
            <a:avLst/>
          </a:prstGeom>
          <a:solidFill>
            <a:srgbClr val="FFD400"/>
          </a:solidFill>
          <a:ln w="12700">
            <a:solidFill>
              <a:srgbClr val="FFD4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65960"/>
            <a:ext cx="4946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Project sources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404872"/>
            <a:ext cx="4946904" cy="323697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docs/challenges/00-overview.md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docs/challenges/01-research.md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docs/challenges/02-understand.md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docs/team-research/Innovation_School_English_Transcript-Veljko.txt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docs/my-research/01-...school-preparation.md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docs/my-research/02-...bank-services-and-retention.md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docs/my-research/03-...design-thinking.md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6236208" y="1783080"/>
            <a:ext cx="5230368" cy="4041648"/>
          </a:xfrm>
          <a:prstGeom prst="roundRect">
            <a:avLst>
              <a:gd name="adj" fmla="val 1131"/>
            </a:avLst>
          </a:prstGeom>
          <a:solidFill>
            <a:srgbClr val="FFFFFF"/>
          </a:solidFill>
          <a:ln w="10160">
            <a:solidFill>
              <a:srgbClr val="E5E5E0"/>
            </a:solidFill>
            <a:prstDash val="solid"/>
          </a:ln>
          <a:effectLst>
            <a:outerShdw sx="100000" sy="100000" kx="0" ky="0" algn="bl" rotWithShape="0" blurRad="1.815763936265599e+86" dist="9.078819681327995e+85" dir="9.871627788170037e+101">
              <a:srgbClr val="000000">
                <a:alpha val="1.2e+10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6208" y="1783080"/>
            <a:ext cx="50292" cy="4041648"/>
          </a:xfrm>
          <a:prstGeom prst="rect">
            <a:avLst/>
          </a:prstGeom>
          <a:solidFill>
            <a:srgbClr val="A7C8E8"/>
          </a:solidFill>
          <a:ln w="12700">
            <a:solidFill>
              <a:srgbClr val="A7C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7376" y="1965960"/>
            <a:ext cx="4828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0201E"/>
                </a:solidFill>
              </a:rPr>
              <a:t>Public examples referenced in research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37376" y="2404872"/>
            <a:ext cx="4828032" cy="323697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Raiffeisen Serbia Premium and financial planning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Tatra banka Premium care models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Raiffeisenbank Czech automated-advice disclosure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Finax digital investment journey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ING Smart Invest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Moneyfarm service tiers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4B4B47"/>
                </a:solidFill>
              </a:rPr>
              <a:t>ESMA MiFID II / suitability guidance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1234440" y="5943600"/>
            <a:ext cx="9738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666661"/>
                </a:solidFill>
              </a:rPr>
              <a:t>Evidence discipline: public pages show advertised capabilities; the expert transcript reports experience; neither proves adoption, satisfaction or group-wide performance.</a:t>
            </a:r>
            <a:endParaRPr lang="en-US" sz="10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473952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A6A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RBI Innovation School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Innovation Challenge - Team Alignment</dc:title>
  <dc:subject>Mass-Affluent Wealth Advice - Team Alignment</dc:subject>
  <dc:creator>Arianit Lubishtani</dc:creator>
  <cp:lastModifiedBy>Arianit Lubishtani</cp:lastModifiedBy>
  <cp:revision>1</cp:revision>
  <dcterms:created xsi:type="dcterms:W3CDTF">2026-10-10T22:22:03Z</dcterms:created>
  <dcterms:modified xsi:type="dcterms:W3CDTF">2026-10-10T22:22:03Z</dcterms:modified>
</cp:coreProperties>
</file>